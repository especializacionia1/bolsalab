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BsQWypGUOR4MMnaItPoLriIUlU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95D8D-A854-4979-AA71-5EB8D65B128A}" v="8" dt="2026-10-19T21:14:44.028"/>
  </p1510:revLst>
</p1510:revInfo>
</file>

<file path=ppt/tableStyles.xml><?xml version="1.0" encoding="utf-8"?>
<a:tblStyleLst xmlns:a="http://schemas.openxmlformats.org/drawingml/2006/main" def="{F4FE14CA-BAC7-4632-A691-3EBAED7692A0}">
  <a:tblStyle styleId="{F4FE14CA-BAC7-4632-A691-3EBAED7692A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CE7"/>
          </a:solidFill>
        </a:fill>
      </a:tcStyle>
    </a:wholeTbl>
    <a:band1H>
      <a:tcTxStyle/>
      <a:tcStyle>
        <a:tcBdr/>
        <a:fill>
          <a:solidFill>
            <a:srgbClr val="F8D6CC"/>
          </a:solidFill>
        </a:fill>
      </a:tcStyle>
    </a:band1H>
    <a:band2H>
      <a:tcTxStyle/>
      <a:tcStyle>
        <a:tcBdr/>
      </a:tcStyle>
    </a:band2H>
    <a:band1V>
      <a:tcTxStyle/>
      <a:tcStyle>
        <a:tcBdr/>
        <a:fill>
          <a:solidFill>
            <a:srgbClr val="F8D6CC"/>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A4D24A14-C9F0-4CB3-BA6E-3FB01A3D26FB}"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notesMaster" Target="notesMasters/notesMaster1.xml"/><Relationship Id="rId14"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Ayala" userId="e33b759354a7df06" providerId="LiveId" clId="{4E3B8C90-B8B1-4F43-8C1D-FFDAA45300A1}"/>
    <pc:docChg chg="modSld sldOrd">
      <pc:chgData name="Juan Ayala" userId="e33b759354a7df06" providerId="LiveId" clId="{4E3B8C90-B8B1-4F43-8C1D-FFDAA45300A1}" dt="2026-10-20T02:28:14.090" v="245" actId="13926"/>
      <pc:docMkLst>
        <pc:docMk/>
      </pc:docMkLst>
      <pc:sldChg chg="modSp mod">
        <pc:chgData name="Juan Ayala" userId="e33b759354a7df06" providerId="LiveId" clId="{4E3B8C90-B8B1-4F43-8C1D-FFDAA45300A1}" dt="2026-10-19T20:57:33.526" v="0" actId="13926"/>
        <pc:sldMkLst>
          <pc:docMk/>
          <pc:sldMk cId="0" sldId="257"/>
        </pc:sldMkLst>
        <pc:spChg chg="mod">
          <ac:chgData name="Juan Ayala" userId="e33b759354a7df06" providerId="LiveId" clId="{4E3B8C90-B8B1-4F43-8C1D-FFDAA45300A1}" dt="2026-10-19T20:57:33.526" v="0" actId="13926"/>
          <ac:spMkLst>
            <pc:docMk/>
            <pc:sldMk cId="0" sldId="257"/>
            <ac:spMk id="101" creationId="{00000000-0000-0000-0000-000000000000}"/>
          </ac:spMkLst>
        </pc:spChg>
      </pc:sldChg>
      <pc:sldChg chg="modSp mod">
        <pc:chgData name="Juan Ayala" userId="e33b759354a7df06" providerId="LiveId" clId="{4E3B8C90-B8B1-4F43-8C1D-FFDAA45300A1}" dt="2026-10-20T02:10:56.080" v="236" actId="13926"/>
        <pc:sldMkLst>
          <pc:docMk/>
          <pc:sldMk cId="0" sldId="258"/>
        </pc:sldMkLst>
        <pc:graphicFrameChg chg="modGraphic">
          <ac:chgData name="Juan Ayala" userId="e33b759354a7df06" providerId="LiveId" clId="{4E3B8C90-B8B1-4F43-8C1D-FFDAA45300A1}" dt="2026-10-20T02:10:56.080" v="236" actId="13926"/>
          <ac:graphicFrameMkLst>
            <pc:docMk/>
            <pc:sldMk cId="0" sldId="258"/>
            <ac:graphicFrameMk id="114" creationId="{00000000-0000-0000-0000-000000000000}"/>
          </ac:graphicFrameMkLst>
        </pc:graphicFrameChg>
      </pc:sldChg>
      <pc:sldChg chg="modSp mod">
        <pc:chgData name="Juan Ayala" userId="e33b759354a7df06" providerId="LiveId" clId="{4E3B8C90-B8B1-4F43-8C1D-FFDAA45300A1}" dt="2026-10-20T02:28:04.409" v="244" actId="13926"/>
        <pc:sldMkLst>
          <pc:docMk/>
          <pc:sldMk cId="0" sldId="259"/>
        </pc:sldMkLst>
        <pc:spChg chg="mod">
          <ac:chgData name="Juan Ayala" userId="e33b759354a7df06" providerId="LiveId" clId="{4E3B8C90-B8B1-4F43-8C1D-FFDAA45300A1}" dt="2026-10-20T02:28:04.409" v="244" actId="13926"/>
          <ac:spMkLst>
            <pc:docMk/>
            <pc:sldMk cId="0" sldId="259"/>
            <ac:spMk id="130" creationId="{00000000-0000-0000-0000-000000000000}"/>
          </ac:spMkLst>
        </pc:spChg>
        <pc:graphicFrameChg chg="mod modGraphic">
          <ac:chgData name="Juan Ayala" userId="e33b759354a7df06" providerId="LiveId" clId="{4E3B8C90-B8B1-4F43-8C1D-FFDAA45300A1}" dt="2026-10-20T02:11:02.284" v="237" actId="13926"/>
          <ac:graphicFrameMkLst>
            <pc:docMk/>
            <pc:sldMk cId="0" sldId="259"/>
            <ac:graphicFrameMk id="129" creationId="{00000000-0000-0000-0000-000000000000}"/>
          </ac:graphicFrameMkLst>
        </pc:graphicFrameChg>
      </pc:sldChg>
      <pc:sldChg chg="modSp mod">
        <pc:chgData name="Juan Ayala" userId="e33b759354a7df06" providerId="LiveId" clId="{4E3B8C90-B8B1-4F43-8C1D-FFDAA45300A1}" dt="2026-10-20T02:27:53.270" v="242" actId="13926"/>
        <pc:sldMkLst>
          <pc:docMk/>
          <pc:sldMk cId="0" sldId="260"/>
        </pc:sldMkLst>
        <pc:graphicFrameChg chg="mod modGraphic">
          <ac:chgData name="Juan Ayala" userId="e33b759354a7df06" providerId="LiveId" clId="{4E3B8C90-B8B1-4F43-8C1D-FFDAA45300A1}" dt="2026-10-20T02:27:53.270" v="242" actId="13926"/>
          <ac:graphicFrameMkLst>
            <pc:docMk/>
            <pc:sldMk cId="0" sldId="260"/>
            <ac:graphicFrameMk id="139" creationId="{00000000-0000-0000-0000-000000000000}"/>
          </ac:graphicFrameMkLst>
        </pc:graphicFrameChg>
      </pc:sldChg>
      <pc:sldChg chg="modSp mod">
        <pc:chgData name="Juan Ayala" userId="e33b759354a7df06" providerId="LiveId" clId="{4E3B8C90-B8B1-4F43-8C1D-FFDAA45300A1}" dt="2026-10-20T02:11:21.308" v="240" actId="13926"/>
        <pc:sldMkLst>
          <pc:docMk/>
          <pc:sldMk cId="0" sldId="261"/>
        </pc:sldMkLst>
        <pc:graphicFrameChg chg="mod modGraphic">
          <ac:chgData name="Juan Ayala" userId="e33b759354a7df06" providerId="LiveId" clId="{4E3B8C90-B8B1-4F43-8C1D-FFDAA45300A1}" dt="2026-10-20T02:11:21.308" v="240" actId="13926"/>
          <ac:graphicFrameMkLst>
            <pc:docMk/>
            <pc:sldMk cId="0" sldId="261"/>
            <ac:graphicFrameMk id="154" creationId="{00000000-0000-0000-0000-000000000000}"/>
          </ac:graphicFrameMkLst>
        </pc:graphicFrameChg>
      </pc:sldChg>
      <pc:sldChg chg="modSp mod ord">
        <pc:chgData name="Juan Ayala" userId="e33b759354a7df06" providerId="LiveId" clId="{4E3B8C90-B8B1-4F43-8C1D-FFDAA45300A1}" dt="2026-10-20T02:28:14.090" v="245" actId="13926"/>
        <pc:sldMkLst>
          <pc:docMk/>
          <pc:sldMk cId="0" sldId="262"/>
        </pc:sldMkLst>
        <pc:graphicFrameChg chg="mod modGraphic">
          <ac:chgData name="Juan Ayala" userId="e33b759354a7df06" providerId="LiveId" clId="{4E3B8C90-B8B1-4F43-8C1D-FFDAA45300A1}" dt="2026-10-20T02:28:14.090" v="245" actId="13926"/>
          <ac:graphicFrameMkLst>
            <pc:docMk/>
            <pc:sldMk cId="0" sldId="262"/>
            <ac:graphicFrameMk id="16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CO"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15F9A"/>
              </a:buClr>
              <a:buSzPts val="1800"/>
              <a:buFont typeface="Calibri"/>
              <a:buNone/>
            </a:pPr>
            <a:r>
              <a:rPr lang="es-CO" sz="1800">
                <a:solidFill>
                  <a:srgbClr val="215F9A"/>
                </a:solidFill>
                <a:latin typeface="Calibri"/>
                <a:ea typeface="Calibri"/>
                <a:cs typeface="Calibri"/>
                <a:sym typeface="Calibri"/>
              </a:rPr>
              <a:t>Instrucciones:</a:t>
            </a:r>
            <a:endParaRPr/>
          </a:p>
          <a:p>
            <a:pPr marL="0" marR="0" lvl="0" indent="0" algn="l" rtl="0">
              <a:lnSpc>
                <a:spcPct val="100000"/>
              </a:lnSpc>
              <a:spcBef>
                <a:spcPts val="0"/>
              </a:spcBef>
              <a:spcAft>
                <a:spcPts val="0"/>
              </a:spcAft>
              <a:buClr>
                <a:schemeClr val="dk1"/>
              </a:buClr>
              <a:buSzPts val="1800"/>
              <a:buFont typeface="Calibri"/>
              <a:buNone/>
            </a:pPr>
            <a:endParaRPr sz="1800">
              <a:solidFill>
                <a:srgbClr val="215F9A"/>
              </a:solidFill>
              <a:latin typeface="Calibri"/>
              <a:ea typeface="Calibri"/>
              <a:cs typeface="Calibri"/>
              <a:sym typeface="Calibri"/>
            </a:endParaRPr>
          </a:p>
          <a:p>
            <a:pPr marL="285750" marR="0" lvl="0" indent="-285750" algn="l" rtl="0">
              <a:lnSpc>
                <a:spcPct val="100000"/>
              </a:lnSpc>
              <a:spcBef>
                <a:spcPts val="0"/>
              </a:spcBef>
              <a:spcAft>
                <a:spcPts val="0"/>
              </a:spcAft>
              <a:buClr>
                <a:srgbClr val="215F9A"/>
              </a:buClr>
              <a:buSzPts val="1800"/>
              <a:buFont typeface="Arial"/>
              <a:buChar char="•"/>
            </a:pPr>
            <a:r>
              <a:rPr lang="es-CO" sz="1800">
                <a:solidFill>
                  <a:srgbClr val="215F9A"/>
                </a:solidFill>
                <a:latin typeface="Calibri"/>
                <a:ea typeface="Calibri"/>
                <a:cs typeface="Calibri"/>
                <a:sym typeface="Calibri"/>
              </a:rPr>
              <a:t>Rellenar los espacios con los datos correspondientes al grupo e integrantes.</a:t>
            </a:r>
            <a:endParaRPr/>
          </a:p>
          <a:p>
            <a:pPr marL="285750" marR="0" lvl="0" indent="-171450" algn="l" rtl="0">
              <a:lnSpc>
                <a:spcPct val="100000"/>
              </a:lnSpc>
              <a:spcBef>
                <a:spcPts val="0"/>
              </a:spcBef>
              <a:spcAft>
                <a:spcPts val="0"/>
              </a:spcAft>
              <a:buClr>
                <a:schemeClr val="dk1"/>
              </a:buClr>
              <a:buSzPts val="1800"/>
              <a:buFont typeface="Arial"/>
              <a:buNone/>
            </a:pPr>
            <a:endParaRPr sz="1800">
              <a:solidFill>
                <a:srgbClr val="215F9A"/>
              </a:solidFill>
              <a:latin typeface="Calibri"/>
              <a:ea typeface="Calibri"/>
              <a:cs typeface="Calibri"/>
              <a:sym typeface="Calibri"/>
            </a:endParaRPr>
          </a:p>
          <a:p>
            <a:pPr marL="285750" marR="0" lvl="0" indent="-285750" algn="l" rtl="0">
              <a:lnSpc>
                <a:spcPct val="100000"/>
              </a:lnSpc>
              <a:spcBef>
                <a:spcPts val="0"/>
              </a:spcBef>
              <a:spcAft>
                <a:spcPts val="0"/>
              </a:spcAft>
              <a:buClr>
                <a:srgbClr val="215F9A"/>
              </a:buClr>
              <a:buSzPts val="1800"/>
              <a:buFont typeface="Arial"/>
              <a:buChar char="•"/>
            </a:pPr>
            <a:r>
              <a:rPr lang="es-CO" sz="1800">
                <a:solidFill>
                  <a:srgbClr val="215F9A"/>
                </a:solidFill>
                <a:latin typeface="Calibri"/>
                <a:ea typeface="Calibri"/>
                <a:cs typeface="Calibri"/>
                <a:sym typeface="Calibri"/>
              </a:rPr>
              <a:t>Si algún miembro del grupo no generó aportes significativos, no debería ser incluido en la lista de integrantes.</a:t>
            </a:r>
            <a:endParaRPr sz="1800">
              <a:latin typeface="Arial"/>
              <a:ea typeface="Arial"/>
              <a:cs typeface="Arial"/>
              <a:sym typeface="Arial"/>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Utilice los post-its para identificar las posibles soluciones en IA. Cada color identifica a un miembro del equipo.</a:t>
            </a:r>
            <a:endParaRPr/>
          </a:p>
          <a:p>
            <a:pPr marL="0" lvl="0" indent="0" algn="l" rtl="0">
              <a:spcBef>
                <a:spcPts val="0"/>
              </a:spcBef>
              <a:spcAft>
                <a:spcPts val="0"/>
              </a:spcAft>
              <a:buNone/>
            </a:pPr>
            <a:endParaRPr/>
          </a:p>
        </p:txBody>
      </p:sp>
      <p:sp>
        <p:nvSpPr>
          <p:cNvPr id="95" name="Google Shape;9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Por favor no extenderse demasiado en los textos escritos. Usar solo el espacio disponible en los campos a rellenar.</a:t>
            </a:r>
            <a:endParaRPr/>
          </a:p>
          <a:p>
            <a:pPr marL="0" lvl="0" indent="0" algn="l" rtl="0">
              <a:spcBef>
                <a:spcPts val="0"/>
              </a:spcBef>
              <a:spcAft>
                <a:spcPts val="0"/>
              </a:spcAft>
              <a:buNone/>
            </a:pPr>
            <a:endParaRPr/>
          </a:p>
        </p:txBody>
      </p:sp>
      <p:sp>
        <p:nvSpPr>
          <p:cNvPr id="108" name="Google Shape;10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r>
              <a:rPr lang="es-CO"/>
              <a:t>-</a:t>
            </a:r>
            <a:r>
              <a:rPr lang="es-CO" sz="1200" b="0" i="0">
                <a:solidFill>
                  <a:srgbClr val="242424"/>
                </a:solidFill>
                <a:highlight>
                  <a:srgbClr val="FFFFFF"/>
                </a:highlight>
                <a:latin typeface="Arial"/>
                <a:ea typeface="Arial"/>
                <a:cs typeface="Arial"/>
                <a:sym typeface="Arial"/>
              </a:rPr>
              <a:t>Realizar una recopilación y presentación de toda la información significativa de los sprints del ciclo, soportándose en el material preparado previamente. Es importante en esta fase, que destaquen los hitos o eventos importantes del proceso. La información presentada resume y complementa los documentos entregados por el equipo al final de los sprints del ciclo.</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Por favor no extenderse demasiado en los textos escritos. Usar solo el espacio disponible en los campos a rellenar.</a:t>
            </a:r>
            <a:endParaRPr/>
          </a:p>
          <a:p>
            <a:pPr marL="0" lvl="0" indent="0" algn="l" rtl="0">
              <a:spcBef>
                <a:spcPts val="0"/>
              </a:spcBef>
              <a:spcAft>
                <a:spcPts val="0"/>
              </a:spcAft>
              <a:buNone/>
            </a:pPr>
            <a:endParaRPr/>
          </a:p>
        </p:txBody>
      </p:sp>
      <p:sp>
        <p:nvSpPr>
          <p:cNvPr id="120" name="Google Shape;12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a:t>
            </a:r>
            <a:r>
              <a:rPr lang="es-CO" sz="1200" b="0" i="0">
                <a:solidFill>
                  <a:srgbClr val="242424"/>
                </a:solidFill>
                <a:highlight>
                  <a:srgbClr val="FFFFFF"/>
                </a:highlight>
                <a:latin typeface="Arial"/>
                <a:ea typeface="Arial"/>
                <a:cs typeface="Arial"/>
                <a:sym typeface="Arial"/>
              </a:rPr>
              <a:t>Realizar una reflexión para lograr un entendimiento del porqué de cada hito o evento significativo sucedido en los sprints, analizando la causa raíz de los mismos. En esta etapa se evidencia el rol de facilitador del Scrum Master, quien mediante la indagación, busca generar puntos de vista diferentes a los que tenía el equipo hasta ese momento.</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Por favor no extenderse demasiado en los textos escritos. Usar solo el espacio disponible en los campos a rellenar.</a:t>
            </a:r>
            <a:endParaRPr/>
          </a:p>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Calibri"/>
              <a:buNone/>
            </a:pPr>
            <a:r>
              <a:rPr lang="es-CO"/>
              <a:t>Por favor no extenderse demasiado en los textos escritos. Usar solo el espacio disponible en los campos a rellenar.</a:t>
            </a:r>
            <a:endParaRPr/>
          </a:p>
          <a:p>
            <a:pPr marL="0" lvl="0" indent="0" algn="l" rtl="0">
              <a:spcBef>
                <a:spcPts val="0"/>
              </a:spcBef>
              <a:spcAft>
                <a:spcPts val="0"/>
              </a:spcAft>
              <a:buNone/>
            </a:pPr>
            <a:endParaRPr/>
          </a:p>
        </p:txBody>
      </p:sp>
      <p:sp>
        <p:nvSpPr>
          <p:cNvPr id="145" name="Google Shape;14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O"/>
              <a:t>Instrucciones:</a:t>
            </a:r>
            <a:endParaRPr/>
          </a:p>
          <a:p>
            <a:pPr marL="0" lvl="0" indent="0" algn="l" rtl="0">
              <a:spcBef>
                <a:spcPts val="0"/>
              </a:spcBef>
              <a:spcAft>
                <a:spcPts val="0"/>
              </a:spcAft>
              <a:buNone/>
            </a:pPr>
            <a:endParaRPr/>
          </a:p>
          <a:p>
            <a:pPr marL="171450" lvl="0" indent="-171450" algn="l" rtl="0">
              <a:spcBef>
                <a:spcPts val="0"/>
              </a:spcBef>
              <a:spcAft>
                <a:spcPts val="0"/>
              </a:spcAft>
              <a:buClr>
                <a:srgbClr val="000000"/>
              </a:buClr>
              <a:buSzPts val="1200"/>
              <a:buFont typeface="Calibri"/>
              <a:buChar char="-"/>
            </a:pPr>
            <a:r>
              <a:rPr lang="es-CO" b="0" i="0">
                <a:solidFill>
                  <a:srgbClr val="000000"/>
                </a:solidFill>
                <a:highlight>
                  <a:srgbClr val="BDD7EE"/>
                </a:highlight>
                <a:latin typeface="Calibri"/>
                <a:ea typeface="Calibri"/>
                <a:cs typeface="Calibri"/>
                <a:sym typeface="Calibri"/>
              </a:rPr>
              <a:t>Repasan lo que fue la retrospectiva, revisan las acciones y aprendizajes, acuerdan cómo se pueden mejorar las próximas retrospectivas.</a:t>
            </a:r>
            <a:endParaRPr/>
          </a:p>
          <a:p>
            <a:pPr marL="171450" lvl="0" indent="-95250" algn="l" rtl="0">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CO"/>
              <a:t>Por favor no extenderse demasiado en los textos escritos. Usar solo el espacio disponible en los campos a rellenar.</a:t>
            </a:r>
            <a:endParaRPr/>
          </a:p>
          <a:p>
            <a:pPr marL="0" lvl="0" indent="0" algn="l" rtl="0">
              <a:spcBef>
                <a:spcPts val="0"/>
              </a:spcBef>
              <a:spcAft>
                <a:spcPts val="0"/>
              </a:spcAft>
              <a:buNone/>
            </a:pPr>
            <a:endParaRPr/>
          </a:p>
        </p:txBody>
      </p:sp>
      <p:sp>
        <p:nvSpPr>
          <p:cNvPr id="158" name="Google Shape;15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O"/>
              <a:t>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a:spLocks noGrp="1"/>
          </p:cNvSpPr>
          <p:nvPr>
            <p:ph type="pic" idx="2"/>
          </p:nvPr>
        </p:nvSpPr>
        <p:spPr>
          <a:xfrm>
            <a:off x="5183188" y="987425"/>
            <a:ext cx="6172200" cy="4873625"/>
          </a:xfrm>
          <a:prstGeom prst="rect">
            <a:avLst/>
          </a:prstGeom>
          <a:noFill/>
          <a:ln>
            <a:noFill/>
          </a:ln>
        </p:spPr>
      </p:sp>
      <p:sp>
        <p:nvSpPr>
          <p:cNvPr id="68" name="Google Shape;68;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descr="Patrón de fondo&#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0" name="Google Shape;90;p1"/>
          <p:cNvSpPr txBox="1">
            <a:spLocks noGrp="1"/>
          </p:cNvSpPr>
          <p:nvPr>
            <p:ph type="subTitle" idx="1"/>
          </p:nvPr>
        </p:nvSpPr>
        <p:spPr>
          <a:xfrm>
            <a:off x="650111" y="1633220"/>
            <a:ext cx="10891777" cy="260589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5400"/>
              <a:buNone/>
            </a:pPr>
            <a:r>
              <a:rPr lang="es-CO" sz="5400" b="1">
                <a:solidFill>
                  <a:schemeClr val="lt1"/>
                </a:solidFill>
                <a:latin typeface="Calibri"/>
                <a:ea typeface="Calibri"/>
                <a:cs typeface="Calibri"/>
                <a:sym typeface="Calibri"/>
              </a:rPr>
              <a:t>Módulo 2</a:t>
            </a:r>
            <a:endParaRPr/>
          </a:p>
          <a:p>
            <a:pPr marL="0" lvl="0" indent="0" algn="ctr" rtl="0">
              <a:lnSpc>
                <a:spcPct val="90000"/>
              </a:lnSpc>
              <a:spcBef>
                <a:spcPts val="1000"/>
              </a:spcBef>
              <a:spcAft>
                <a:spcPts val="0"/>
              </a:spcAft>
              <a:buClr>
                <a:schemeClr val="lt1"/>
              </a:buClr>
              <a:buSzPts val="5400"/>
              <a:buNone/>
            </a:pPr>
            <a:r>
              <a:rPr lang="es-CO" sz="5400" b="1">
                <a:solidFill>
                  <a:schemeClr val="lt1"/>
                </a:solidFill>
                <a:latin typeface="Calibri"/>
                <a:ea typeface="Calibri"/>
                <a:cs typeface="Calibri"/>
                <a:sym typeface="Calibri"/>
              </a:rPr>
              <a:t>Actividad Retrospectiva CICLO-2</a:t>
            </a:r>
            <a:endParaRPr/>
          </a:p>
          <a:p>
            <a:pPr marL="0" lvl="0" indent="0" algn="ctr" rtl="0">
              <a:lnSpc>
                <a:spcPct val="90000"/>
              </a:lnSpc>
              <a:spcBef>
                <a:spcPts val="1000"/>
              </a:spcBef>
              <a:spcAft>
                <a:spcPts val="0"/>
              </a:spcAft>
              <a:buClr>
                <a:schemeClr val="dk1"/>
              </a:buClr>
              <a:buSzPts val="2800"/>
              <a:buNone/>
            </a:pPr>
            <a:endParaRPr sz="2800" b="1">
              <a:solidFill>
                <a:srgbClr val="FFC000"/>
              </a:solidFill>
              <a:latin typeface="Arial"/>
              <a:ea typeface="Arial"/>
              <a:cs typeface="Arial"/>
              <a:sym typeface="Arial"/>
            </a:endParaRPr>
          </a:p>
          <a:p>
            <a:pPr marL="0" lvl="0" indent="0" algn="ctr" rtl="0">
              <a:lnSpc>
                <a:spcPct val="90000"/>
              </a:lnSpc>
              <a:spcBef>
                <a:spcPts val="1000"/>
              </a:spcBef>
              <a:spcAft>
                <a:spcPts val="0"/>
              </a:spcAft>
              <a:buClr>
                <a:srgbClr val="00D2F0"/>
              </a:buClr>
              <a:buSzPts val="3200"/>
              <a:buNone/>
            </a:pPr>
            <a:r>
              <a:rPr lang="es-CO" sz="3200" b="1">
                <a:solidFill>
                  <a:srgbClr val="00D2F0"/>
                </a:solidFill>
                <a:latin typeface="Calibri"/>
                <a:ea typeface="Calibri"/>
                <a:cs typeface="Calibri"/>
                <a:sym typeface="Calibri"/>
              </a:rPr>
              <a:t>Grupo 10</a:t>
            </a:r>
            <a:endParaRPr/>
          </a:p>
        </p:txBody>
      </p:sp>
      <p:sp>
        <p:nvSpPr>
          <p:cNvPr id="91" name="Google Shape;91;p1"/>
          <p:cNvSpPr txBox="1"/>
          <p:nvPr/>
        </p:nvSpPr>
        <p:spPr>
          <a:xfrm>
            <a:off x="1867917" y="4766879"/>
            <a:ext cx="8456166" cy="172536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AFF3FF"/>
              </a:buClr>
              <a:buSzPts val="2000"/>
              <a:buFont typeface="Arial"/>
              <a:buNone/>
            </a:pPr>
            <a:r>
              <a:rPr lang="es-CO" sz="2000" b="1" i="0" u="none" strike="noStrike" cap="none">
                <a:solidFill>
                  <a:srgbClr val="AFF3FF"/>
                </a:solidFill>
                <a:latin typeface="Arial"/>
                <a:ea typeface="Arial"/>
                <a:cs typeface="Arial"/>
                <a:sym typeface="Arial"/>
              </a:rPr>
              <a:t>Integrantes:</a:t>
            </a:r>
            <a:endParaRPr/>
          </a:p>
          <a:p>
            <a:pPr marL="0" marR="0" lvl="0" indent="0" algn="ctr" rtl="0">
              <a:lnSpc>
                <a:spcPct val="90000"/>
              </a:lnSpc>
              <a:spcBef>
                <a:spcPts val="1000"/>
              </a:spcBef>
              <a:spcAft>
                <a:spcPts val="0"/>
              </a:spcAft>
              <a:buClr>
                <a:srgbClr val="AFF3FF"/>
              </a:buClr>
              <a:buSzPts val="1500"/>
              <a:buFont typeface="Arial"/>
              <a:buNone/>
            </a:pPr>
            <a:r>
              <a:rPr lang="es-CO" sz="1500" b="0" i="0" u="none" strike="noStrike" cap="none">
                <a:solidFill>
                  <a:srgbClr val="AFF3FF"/>
                </a:solidFill>
                <a:latin typeface="Arial"/>
                <a:ea typeface="Arial"/>
                <a:cs typeface="Arial"/>
                <a:sym typeface="Arial"/>
              </a:rPr>
              <a:t>Juan Gilberto Ayala</a:t>
            </a:r>
            <a:endParaRPr/>
          </a:p>
          <a:p>
            <a:pPr marL="0" marR="0" lvl="0" indent="0" algn="ctr" rtl="0">
              <a:lnSpc>
                <a:spcPct val="90000"/>
              </a:lnSpc>
              <a:spcBef>
                <a:spcPts val="1000"/>
              </a:spcBef>
              <a:spcAft>
                <a:spcPts val="0"/>
              </a:spcAft>
              <a:buClr>
                <a:srgbClr val="AFF3FF"/>
              </a:buClr>
              <a:buSzPts val="1500"/>
              <a:buFont typeface="Arial"/>
              <a:buNone/>
            </a:pPr>
            <a:r>
              <a:rPr lang="es-CO" sz="1500" b="0" i="0" u="none" strike="noStrike" cap="none">
                <a:solidFill>
                  <a:srgbClr val="AFF3FF"/>
                </a:solidFill>
                <a:latin typeface="Arial"/>
                <a:ea typeface="Arial"/>
                <a:cs typeface="Arial"/>
                <a:sym typeface="Arial"/>
              </a:rPr>
              <a:t>Luis Guillermo Yepez</a:t>
            </a:r>
            <a:endParaRPr/>
          </a:p>
          <a:p>
            <a:pPr marL="0" marR="0" lvl="0" indent="0" algn="ctr" rtl="0">
              <a:lnSpc>
                <a:spcPct val="90000"/>
              </a:lnSpc>
              <a:spcBef>
                <a:spcPts val="1000"/>
              </a:spcBef>
              <a:spcAft>
                <a:spcPts val="0"/>
              </a:spcAft>
              <a:buClr>
                <a:srgbClr val="AFF3FF"/>
              </a:buClr>
              <a:buSzPts val="1500"/>
              <a:buFont typeface="Arial"/>
              <a:buNone/>
            </a:pPr>
            <a:r>
              <a:rPr lang="es-CO" sz="1500" b="0" i="0" u="none" strike="noStrike" cap="none">
                <a:solidFill>
                  <a:srgbClr val="AFF3FF"/>
                </a:solidFill>
                <a:latin typeface="Arial"/>
                <a:ea typeface="Arial"/>
                <a:cs typeface="Arial"/>
                <a:sym typeface="Arial"/>
              </a:rPr>
              <a:t>Dilan Santiago Vega</a:t>
            </a:r>
            <a:endParaRPr/>
          </a:p>
          <a:p>
            <a:pPr marL="0" marR="0" lvl="0" indent="0" algn="ctr" rtl="0">
              <a:lnSpc>
                <a:spcPct val="90000"/>
              </a:lnSpc>
              <a:spcBef>
                <a:spcPts val="1000"/>
              </a:spcBef>
              <a:spcAft>
                <a:spcPts val="0"/>
              </a:spcAft>
              <a:buClr>
                <a:srgbClr val="AFF3FF"/>
              </a:buClr>
              <a:buSzPts val="1500"/>
              <a:buFont typeface="Arial"/>
              <a:buNone/>
            </a:pPr>
            <a:r>
              <a:rPr lang="es-CO" sz="1500" b="0" i="0" u="none" strike="noStrike" cap="none">
                <a:solidFill>
                  <a:srgbClr val="AFF3FF"/>
                </a:solidFill>
                <a:latin typeface="Arial"/>
                <a:ea typeface="Arial"/>
                <a:cs typeface="Arial"/>
                <a:sym typeface="Arial"/>
              </a:rPr>
              <a:t>Jenny Castellanos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pSp>
        <p:nvGrpSpPr>
          <p:cNvPr id="97" name="Google Shape;97;p2"/>
          <p:cNvGrpSpPr/>
          <p:nvPr/>
        </p:nvGrpSpPr>
        <p:grpSpPr>
          <a:xfrm>
            <a:off x="0" y="0"/>
            <a:ext cx="12192000" cy="1238221"/>
            <a:chOff x="0" y="0"/>
            <a:chExt cx="12192000" cy="1238221"/>
          </a:xfrm>
        </p:grpSpPr>
        <p:pic>
          <p:nvPicPr>
            <p:cNvPr id="98" name="Google Shape;98;p2"/>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99" name="Google Shape;99;p2"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00" name="Google Shape;100;p2"/>
          <p:cNvPicPr preferRelativeResize="0"/>
          <p:nvPr/>
        </p:nvPicPr>
        <p:blipFill rotWithShape="1">
          <a:blip r:embed="rId5">
            <a:alphaModFix/>
          </a:blip>
          <a:srcRect/>
          <a:stretch/>
        </p:blipFill>
        <p:spPr>
          <a:xfrm>
            <a:off x="0" y="6766769"/>
            <a:ext cx="12192000" cy="95151"/>
          </a:xfrm>
          <a:prstGeom prst="rect">
            <a:avLst/>
          </a:prstGeom>
          <a:noFill/>
          <a:ln>
            <a:noFill/>
          </a:ln>
        </p:spPr>
      </p:pic>
      <p:sp>
        <p:nvSpPr>
          <p:cNvPr id="101" name="Google Shape;101;p2"/>
          <p:cNvSpPr txBox="1"/>
          <p:nvPr/>
        </p:nvSpPr>
        <p:spPr>
          <a:xfrm>
            <a:off x="534806" y="337599"/>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i="0" u="none" strike="noStrike" cap="none" dirty="0">
                <a:solidFill>
                  <a:srgbClr val="00D2F0"/>
                </a:solidFill>
                <a:latin typeface="Calibri"/>
                <a:ea typeface="Calibri"/>
                <a:cs typeface="Calibri"/>
                <a:sym typeface="Calibri"/>
              </a:rPr>
              <a:t>Sprint Retrospective - </a:t>
            </a:r>
            <a:r>
              <a:rPr lang="es-CO" sz="3200" b="1" i="0" u="none" strike="noStrike" cap="none" dirty="0">
                <a:solidFill>
                  <a:schemeClr val="lt1"/>
                </a:solidFill>
                <a:latin typeface="Calibri"/>
                <a:ea typeface="Calibri"/>
                <a:cs typeface="Calibri"/>
                <a:sym typeface="Calibri"/>
              </a:rPr>
              <a:t>Ciclo 2</a:t>
            </a:r>
            <a:endParaRPr sz="1800" b="1" dirty="0">
              <a:solidFill>
                <a:schemeClr val="lt1"/>
              </a:solidFill>
              <a:latin typeface="Calibri"/>
              <a:ea typeface="Calibri"/>
              <a:cs typeface="Calibri"/>
              <a:sym typeface="Calibri"/>
            </a:endParaRPr>
          </a:p>
        </p:txBody>
      </p:sp>
      <p:sp>
        <p:nvSpPr>
          <p:cNvPr id="102" name="Google Shape;102;p2"/>
          <p:cNvSpPr txBox="1"/>
          <p:nvPr/>
        </p:nvSpPr>
        <p:spPr>
          <a:xfrm>
            <a:off x="1695841" y="1707318"/>
            <a:ext cx="993262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a:solidFill>
                  <a:schemeClr val="dk1"/>
                </a:solidFill>
                <a:latin typeface="Calibri"/>
                <a:ea typeface="Calibri"/>
                <a:cs typeface="Calibri"/>
                <a:sym typeface="Calibri"/>
              </a:rPr>
              <a:t>Evaluar los resultados de los</a:t>
            </a:r>
            <a:r>
              <a:rPr lang="es-CO" sz="2000" b="1">
                <a:solidFill>
                  <a:schemeClr val="dk1"/>
                </a:solidFill>
                <a:latin typeface="Calibri"/>
                <a:ea typeface="Calibri"/>
                <a:cs typeface="Calibri"/>
                <a:sym typeface="Calibri"/>
              </a:rPr>
              <a:t> </a:t>
            </a:r>
            <a:r>
              <a:rPr lang="es-CO" sz="2000" b="1" i="1">
                <a:solidFill>
                  <a:srgbClr val="C00000"/>
                </a:solidFill>
                <a:latin typeface="Calibri"/>
                <a:ea typeface="Calibri"/>
                <a:cs typeface="Calibri"/>
                <a:sym typeface="Calibri"/>
              </a:rPr>
              <a:t>sprints</a:t>
            </a:r>
            <a:r>
              <a:rPr lang="es-CO" sz="2000">
                <a:solidFill>
                  <a:srgbClr val="C00000"/>
                </a:solidFill>
                <a:latin typeface="Calibri"/>
                <a:ea typeface="Calibri"/>
                <a:cs typeface="Calibri"/>
                <a:sym typeface="Calibri"/>
              </a:rPr>
              <a:t>  </a:t>
            </a:r>
            <a:r>
              <a:rPr lang="es-CO" sz="2000">
                <a:solidFill>
                  <a:schemeClr val="dk1"/>
                </a:solidFill>
                <a:latin typeface="Calibri"/>
                <a:ea typeface="Calibri"/>
                <a:cs typeface="Calibri"/>
                <a:sym typeface="Calibri"/>
              </a:rPr>
              <a:t>realizados durante </a:t>
            </a:r>
            <a:r>
              <a:rPr lang="es-CO" sz="2000" b="1">
                <a:solidFill>
                  <a:srgbClr val="C00000"/>
                </a:solidFill>
                <a:latin typeface="Calibri"/>
                <a:ea typeface="Calibri"/>
                <a:cs typeface="Calibri"/>
                <a:sym typeface="Calibri"/>
              </a:rPr>
              <a:t>un ciclo de proyecto</a:t>
            </a:r>
            <a:r>
              <a:rPr lang="es-CO" sz="2000">
                <a:solidFill>
                  <a:srgbClr val="444444"/>
                </a:solidFill>
                <a:latin typeface="Calibri"/>
                <a:ea typeface="Calibri"/>
                <a:cs typeface="Calibri"/>
                <a:sym typeface="Calibri"/>
              </a:rPr>
              <a:t>, </a:t>
            </a:r>
            <a:r>
              <a:rPr lang="es-CO" sz="2000">
                <a:solidFill>
                  <a:schemeClr val="dk1"/>
                </a:solidFill>
                <a:latin typeface="Calibri"/>
                <a:ea typeface="Calibri"/>
                <a:cs typeface="Calibri"/>
                <a:sym typeface="Calibri"/>
              </a:rPr>
              <a:t>tanto</a:t>
            </a:r>
            <a:r>
              <a:rPr lang="es-CO" sz="2000">
                <a:solidFill>
                  <a:srgbClr val="444444"/>
                </a:solidFill>
                <a:latin typeface="Calibri"/>
                <a:ea typeface="Calibri"/>
                <a:cs typeface="Calibri"/>
                <a:sym typeface="Calibri"/>
              </a:rPr>
              <a:t> </a:t>
            </a:r>
            <a:r>
              <a:rPr lang="es-CO" sz="2000">
                <a:solidFill>
                  <a:schemeClr val="dk1"/>
                </a:solidFill>
                <a:latin typeface="Calibri"/>
                <a:ea typeface="Calibri"/>
                <a:cs typeface="Calibri"/>
                <a:sym typeface="Calibri"/>
              </a:rPr>
              <a:t>a nivel técnico, como actitudinal</a:t>
            </a:r>
            <a:r>
              <a:rPr lang="es-CO" sz="2000">
                <a:solidFill>
                  <a:srgbClr val="444444"/>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103" name="Google Shape;103;p2"/>
          <p:cNvSpPr txBox="1"/>
          <p:nvPr/>
        </p:nvSpPr>
        <p:spPr>
          <a:xfrm>
            <a:off x="321953" y="1635740"/>
            <a:ext cx="17829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800" b="1">
                <a:solidFill>
                  <a:srgbClr val="089ECE"/>
                </a:solidFill>
                <a:latin typeface="Calibri"/>
                <a:ea typeface="Calibri"/>
                <a:cs typeface="Calibri"/>
                <a:sym typeface="Calibri"/>
              </a:rPr>
              <a:t>Objetivo</a:t>
            </a:r>
            <a:endParaRPr/>
          </a:p>
        </p:txBody>
      </p:sp>
      <p:sp>
        <p:nvSpPr>
          <p:cNvPr id="104" name="Google Shape;104;p2"/>
          <p:cNvSpPr txBox="1"/>
          <p:nvPr/>
        </p:nvSpPr>
        <p:spPr>
          <a:xfrm>
            <a:off x="398311" y="2671447"/>
            <a:ext cx="11395378" cy="3993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1400" b="1" dirty="0">
                <a:solidFill>
                  <a:srgbClr val="089ECE"/>
                </a:solidFill>
                <a:latin typeface="Calibri"/>
                <a:ea typeface="Calibri"/>
                <a:cs typeface="Calibri"/>
                <a:sym typeface="Calibri"/>
              </a:rPr>
              <a:t>Fase 1 – Preparación del escenario </a:t>
            </a:r>
            <a:r>
              <a:rPr lang="es-CO" sz="1400" dirty="0">
                <a:solidFill>
                  <a:srgbClr val="242424"/>
                </a:solidFill>
                <a:latin typeface="Calibri"/>
                <a:ea typeface="Calibri"/>
                <a:cs typeface="Calibri"/>
                <a:sym typeface="Calibri"/>
              </a:rPr>
              <a:t>Usted </a:t>
            </a:r>
            <a:r>
              <a:rPr lang="es-CO" sz="1400" b="0" i="0" dirty="0">
                <a:solidFill>
                  <a:srgbClr val="242424"/>
                </a:solidFill>
                <a:latin typeface="Calibri"/>
                <a:ea typeface="Calibri"/>
                <a:cs typeface="Calibri"/>
                <a:sym typeface="Calibri"/>
              </a:rPr>
              <a:t> y su equipo revisan el objetivo de la reunión y cómo está cada persona para comenzar con la actividad. Lo invitamos tener una buena actitud para aportar en forma asertiva durante la retrospectiva.</a:t>
            </a:r>
            <a:endParaRPr dirty="0"/>
          </a:p>
          <a:p>
            <a:pPr marL="0" marR="0" lvl="0" indent="0" algn="l" rtl="0">
              <a:spcBef>
                <a:spcPts val="336"/>
              </a:spcBef>
              <a:spcAft>
                <a:spcPts val="0"/>
              </a:spcAft>
              <a:buNone/>
            </a:pPr>
            <a:endParaRPr sz="500" dirty="0">
              <a:solidFill>
                <a:schemeClr val="dk1"/>
              </a:solidFill>
              <a:latin typeface="Calibri"/>
              <a:ea typeface="Calibri"/>
              <a:cs typeface="Calibri"/>
              <a:sym typeface="Calibri"/>
            </a:endParaRPr>
          </a:p>
          <a:p>
            <a:pPr marL="0" marR="0" lvl="0" indent="0" algn="l" rtl="0">
              <a:spcBef>
                <a:spcPts val="336"/>
              </a:spcBef>
              <a:spcAft>
                <a:spcPts val="0"/>
              </a:spcAft>
              <a:buNone/>
            </a:pPr>
            <a:r>
              <a:rPr lang="es-CO" sz="1400" b="1" dirty="0">
                <a:solidFill>
                  <a:srgbClr val="089ECE"/>
                </a:solidFill>
                <a:latin typeface="Calibri"/>
                <a:ea typeface="Calibri"/>
                <a:cs typeface="Calibri"/>
                <a:sym typeface="Calibri"/>
              </a:rPr>
              <a:t>Fase 2 – Recolección de información </a:t>
            </a:r>
            <a:r>
              <a:rPr lang="es-CO" sz="1400" b="0" i="0" dirty="0">
                <a:solidFill>
                  <a:srgbClr val="242424"/>
                </a:solidFill>
                <a:latin typeface="Calibri"/>
                <a:ea typeface="Calibri"/>
                <a:cs typeface="Calibri"/>
                <a:sym typeface="Calibri"/>
              </a:rPr>
              <a:t>Luego, para obtener una visión compartida con los profesores, realizan una recopilación y presentación de toda la información significativa de los </a:t>
            </a:r>
            <a:r>
              <a:rPr lang="es-CO" sz="1400" b="0" i="0" dirty="0" err="1">
                <a:solidFill>
                  <a:srgbClr val="242424"/>
                </a:solidFill>
                <a:latin typeface="Calibri"/>
                <a:ea typeface="Calibri"/>
                <a:cs typeface="Calibri"/>
                <a:sym typeface="Calibri"/>
              </a:rPr>
              <a:t>sprints</a:t>
            </a:r>
            <a:r>
              <a:rPr lang="es-CO" sz="1400" b="0" i="0" dirty="0">
                <a:solidFill>
                  <a:srgbClr val="242424"/>
                </a:solidFill>
                <a:latin typeface="Calibri"/>
                <a:ea typeface="Calibri"/>
                <a:cs typeface="Calibri"/>
                <a:sym typeface="Calibri"/>
              </a:rPr>
              <a:t> del ciclo, soportándose en el material preparado previamente. Es importante en esta fase, que destaquen los hitos o eventos importantes del proceso. La información presentada resume y complementa los documentos entregados por el equipo al final de los </a:t>
            </a:r>
            <a:r>
              <a:rPr lang="es-CO" sz="1400" b="0" i="0" dirty="0" err="1">
                <a:solidFill>
                  <a:srgbClr val="242424"/>
                </a:solidFill>
                <a:latin typeface="Calibri"/>
                <a:ea typeface="Calibri"/>
                <a:cs typeface="Calibri"/>
                <a:sym typeface="Calibri"/>
              </a:rPr>
              <a:t>sprints</a:t>
            </a:r>
            <a:r>
              <a:rPr lang="es-CO" sz="1400" b="0" i="0" dirty="0">
                <a:solidFill>
                  <a:srgbClr val="242424"/>
                </a:solidFill>
                <a:latin typeface="Calibri"/>
                <a:ea typeface="Calibri"/>
                <a:cs typeface="Calibri"/>
                <a:sym typeface="Calibri"/>
              </a:rPr>
              <a:t> del ciclo.</a:t>
            </a:r>
            <a:endParaRPr sz="1100" dirty="0">
              <a:solidFill>
                <a:schemeClr val="dk1"/>
              </a:solidFill>
              <a:latin typeface="Calibri"/>
              <a:ea typeface="Calibri"/>
              <a:cs typeface="Calibri"/>
              <a:sym typeface="Calibri"/>
            </a:endParaRPr>
          </a:p>
          <a:p>
            <a:pPr marL="0" marR="0" lvl="0" indent="0" algn="l" rtl="0">
              <a:spcBef>
                <a:spcPts val="336"/>
              </a:spcBef>
              <a:spcAft>
                <a:spcPts val="0"/>
              </a:spcAft>
              <a:buNone/>
            </a:pPr>
            <a:endParaRPr sz="500" dirty="0">
              <a:solidFill>
                <a:schemeClr val="dk1"/>
              </a:solidFill>
              <a:latin typeface="Calibri"/>
              <a:ea typeface="Calibri"/>
              <a:cs typeface="Calibri"/>
              <a:sym typeface="Calibri"/>
            </a:endParaRPr>
          </a:p>
          <a:p>
            <a:pPr marL="0" marR="0" lvl="0" indent="0" algn="l" rtl="0">
              <a:spcBef>
                <a:spcPts val="336"/>
              </a:spcBef>
              <a:spcAft>
                <a:spcPts val="0"/>
              </a:spcAft>
              <a:buNone/>
            </a:pPr>
            <a:r>
              <a:rPr lang="es-CO" sz="1400" b="1" dirty="0">
                <a:solidFill>
                  <a:srgbClr val="089ECE"/>
                </a:solidFill>
                <a:latin typeface="Calibri"/>
                <a:ea typeface="Calibri"/>
                <a:cs typeface="Calibri"/>
                <a:sym typeface="Calibri"/>
              </a:rPr>
              <a:t>Fase 3 – Generar </a:t>
            </a:r>
            <a:r>
              <a:rPr lang="es-CO" sz="1400" b="1" dirty="0" err="1">
                <a:solidFill>
                  <a:srgbClr val="089ECE"/>
                </a:solidFill>
                <a:latin typeface="Calibri"/>
                <a:ea typeface="Calibri"/>
                <a:cs typeface="Calibri"/>
                <a:sym typeface="Calibri"/>
              </a:rPr>
              <a:t>insigths</a:t>
            </a:r>
            <a:r>
              <a:rPr lang="es-CO" sz="1400" b="1" dirty="0">
                <a:solidFill>
                  <a:srgbClr val="089ECE"/>
                </a:solidFill>
                <a:latin typeface="Calibri"/>
                <a:ea typeface="Calibri"/>
                <a:cs typeface="Calibri"/>
                <a:sym typeface="Calibri"/>
              </a:rPr>
              <a:t> </a:t>
            </a:r>
            <a:r>
              <a:rPr lang="es-CO" sz="1400" b="0" i="0" dirty="0">
                <a:solidFill>
                  <a:srgbClr val="242424"/>
                </a:solidFill>
                <a:latin typeface="Calibri"/>
                <a:ea typeface="Calibri"/>
                <a:cs typeface="Calibri"/>
                <a:sym typeface="Calibri"/>
              </a:rPr>
              <a:t>El equipo debe realizar una reflexión para lograr un entendimiento del porqué de cada hito o evento significativo sucedido en los </a:t>
            </a:r>
            <a:r>
              <a:rPr lang="es-CO" sz="1400" b="0" i="0" dirty="0" err="1">
                <a:solidFill>
                  <a:srgbClr val="242424"/>
                </a:solidFill>
                <a:latin typeface="Calibri"/>
                <a:ea typeface="Calibri"/>
                <a:cs typeface="Calibri"/>
                <a:sym typeface="Calibri"/>
              </a:rPr>
              <a:t>sprints</a:t>
            </a:r>
            <a:r>
              <a:rPr lang="es-CO" sz="1400" b="0" i="0" dirty="0">
                <a:solidFill>
                  <a:srgbClr val="242424"/>
                </a:solidFill>
                <a:latin typeface="Calibri"/>
                <a:ea typeface="Calibri"/>
                <a:cs typeface="Calibri"/>
                <a:sym typeface="Calibri"/>
              </a:rPr>
              <a:t>, analizando su causa raíz. En esta etapa se evidencia el rol de facilitador del Scrum Master, quién mediante la indagación, busca generar puntos de vista diferentes a los que tenía el equipo hasta ese momento.</a:t>
            </a:r>
            <a:endParaRPr sz="1100" dirty="0">
              <a:solidFill>
                <a:schemeClr val="dk1"/>
              </a:solidFill>
              <a:latin typeface="Calibri"/>
              <a:ea typeface="Calibri"/>
              <a:cs typeface="Calibri"/>
              <a:sym typeface="Calibri"/>
            </a:endParaRPr>
          </a:p>
          <a:p>
            <a:pPr marL="0" marR="0" lvl="0" indent="0" algn="l" rtl="0">
              <a:spcBef>
                <a:spcPts val="336"/>
              </a:spcBef>
              <a:spcAft>
                <a:spcPts val="0"/>
              </a:spcAft>
              <a:buNone/>
            </a:pPr>
            <a:endParaRPr sz="500" dirty="0">
              <a:solidFill>
                <a:schemeClr val="dk1"/>
              </a:solidFill>
              <a:latin typeface="Calibri"/>
              <a:ea typeface="Calibri"/>
              <a:cs typeface="Calibri"/>
              <a:sym typeface="Calibri"/>
            </a:endParaRPr>
          </a:p>
          <a:p>
            <a:pPr marL="0" marR="0" lvl="0" indent="0" algn="l" rtl="0">
              <a:spcBef>
                <a:spcPts val="336"/>
              </a:spcBef>
              <a:spcAft>
                <a:spcPts val="0"/>
              </a:spcAft>
              <a:buNone/>
            </a:pPr>
            <a:r>
              <a:rPr lang="es-CO" sz="1400" b="1" dirty="0">
                <a:solidFill>
                  <a:srgbClr val="089ECE"/>
                </a:solidFill>
                <a:latin typeface="Calibri"/>
                <a:ea typeface="Calibri"/>
                <a:cs typeface="Calibri"/>
                <a:sym typeface="Calibri"/>
              </a:rPr>
              <a:t>Fase 4 – Plan de mejora </a:t>
            </a:r>
            <a:r>
              <a:rPr lang="es-CO" sz="1400" b="0" i="0" dirty="0">
                <a:solidFill>
                  <a:srgbClr val="242424"/>
                </a:solidFill>
                <a:latin typeface="Calibri"/>
                <a:ea typeface="Calibri"/>
                <a:cs typeface="Calibri"/>
                <a:sym typeface="Calibri"/>
              </a:rPr>
              <a:t>En esta etapa, el equipo evalúa las modificaciones que pueda requerir el plan planteado originalmente revisando sus temas, problemáticas, actividades y experimentos potenciales. Es el momento de decidir qué hacer y ajustar. Se debe enfocar en los ítems más prioritarios y con base en esto, el equipo define acciones y modificaciones a realizar en los próximos </a:t>
            </a:r>
            <a:r>
              <a:rPr lang="es-CO" sz="1400" b="0" i="0" dirty="0" err="1">
                <a:solidFill>
                  <a:srgbClr val="242424"/>
                </a:solidFill>
                <a:latin typeface="Calibri"/>
                <a:ea typeface="Calibri"/>
                <a:cs typeface="Calibri"/>
                <a:sym typeface="Calibri"/>
              </a:rPr>
              <a:t>sprints</a:t>
            </a:r>
            <a:r>
              <a:rPr lang="es-CO" sz="1400" b="0" i="0" dirty="0">
                <a:solidFill>
                  <a:srgbClr val="242424"/>
                </a:solidFill>
                <a:latin typeface="Calibri"/>
                <a:ea typeface="Calibri"/>
                <a:cs typeface="Calibri"/>
                <a:sym typeface="Calibri"/>
              </a:rPr>
              <a:t>. La idea es que se enfoquen solamente en 2 o 3 ítems como mucho, los equipos que definen muchas acciones rara vez las realizan.</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endParaRPr sz="500" dirty="0">
              <a:solidFill>
                <a:schemeClr val="dk1"/>
              </a:solidFill>
              <a:latin typeface="Calibri"/>
              <a:ea typeface="Calibri"/>
              <a:cs typeface="Calibri"/>
              <a:sym typeface="Calibri"/>
            </a:endParaRPr>
          </a:p>
          <a:p>
            <a:pPr marL="0" marR="0" lvl="0" indent="0" algn="l" rtl="0">
              <a:spcBef>
                <a:spcPts val="0"/>
              </a:spcBef>
              <a:spcAft>
                <a:spcPts val="0"/>
              </a:spcAft>
              <a:buNone/>
            </a:pPr>
            <a:r>
              <a:rPr lang="es-CO" sz="1400" b="1" dirty="0">
                <a:solidFill>
                  <a:srgbClr val="089ECE"/>
                </a:solidFill>
                <a:latin typeface="Calibri"/>
                <a:ea typeface="Calibri"/>
                <a:cs typeface="Calibri"/>
                <a:sym typeface="Calibri"/>
              </a:rPr>
              <a:t>Fase 5 Cierre retrospectiva  </a:t>
            </a:r>
            <a:r>
              <a:rPr lang="es-CO" sz="1400" b="0" i="0" dirty="0">
                <a:solidFill>
                  <a:srgbClr val="242424"/>
                </a:solidFill>
                <a:latin typeface="Calibri"/>
                <a:ea typeface="Calibri"/>
                <a:cs typeface="Calibri"/>
                <a:sym typeface="Calibri"/>
              </a:rPr>
              <a:t>El profesor en conjunto con los estudiantes repasan lo que fue la retrospectiva, revisan las acciones y aprendizajes, acuerdan cómo se pueden mejorar las próximas retrospectivas</a:t>
            </a:r>
            <a:endParaRPr sz="1100" b="0" dirty="0">
              <a:solidFill>
                <a:srgbClr val="BF9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pSp>
        <p:nvGrpSpPr>
          <p:cNvPr id="110" name="Google Shape;110;p3"/>
          <p:cNvGrpSpPr/>
          <p:nvPr/>
        </p:nvGrpSpPr>
        <p:grpSpPr>
          <a:xfrm>
            <a:off x="0" y="5878"/>
            <a:ext cx="12192000" cy="1238221"/>
            <a:chOff x="0" y="0"/>
            <a:chExt cx="12192000" cy="1238221"/>
          </a:xfrm>
        </p:grpSpPr>
        <p:pic>
          <p:nvPicPr>
            <p:cNvPr id="111" name="Google Shape;111;p3"/>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112" name="Google Shape;112;p3"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13" name="Google Shape;113;p3"/>
          <p:cNvPicPr preferRelativeResize="0"/>
          <p:nvPr/>
        </p:nvPicPr>
        <p:blipFill rotWithShape="1">
          <a:blip r:embed="rId5">
            <a:alphaModFix/>
          </a:blip>
          <a:srcRect/>
          <a:stretch/>
        </p:blipFill>
        <p:spPr>
          <a:xfrm>
            <a:off x="0" y="6766769"/>
            <a:ext cx="12192000" cy="95151"/>
          </a:xfrm>
          <a:prstGeom prst="rect">
            <a:avLst/>
          </a:prstGeom>
          <a:noFill/>
          <a:ln>
            <a:noFill/>
          </a:ln>
        </p:spPr>
      </p:pic>
      <p:graphicFrame>
        <p:nvGraphicFramePr>
          <p:cNvPr id="114" name="Google Shape;114;p3"/>
          <p:cNvGraphicFramePr/>
          <p:nvPr>
            <p:extLst>
              <p:ext uri="{D42A27DB-BD31-4B8C-83A1-F6EECF244321}">
                <p14:modId xmlns:p14="http://schemas.microsoft.com/office/powerpoint/2010/main" val="1853147676"/>
              </p:ext>
            </p:extLst>
          </p:nvPr>
        </p:nvGraphicFramePr>
        <p:xfrm>
          <a:off x="255181" y="2040125"/>
          <a:ext cx="11685175" cy="4128250"/>
        </p:xfrm>
        <a:graphic>
          <a:graphicData uri="http://schemas.openxmlformats.org/drawingml/2006/table">
            <a:tbl>
              <a:tblPr firstRow="1" bandRow="1">
                <a:noFill/>
                <a:tableStyleId>{F4FE14CA-BAC7-4632-A691-3EBAED7692A0}</a:tableStyleId>
              </a:tblPr>
              <a:tblGrid>
                <a:gridCol w="11685175">
                  <a:extLst>
                    <a:ext uri="{9D8B030D-6E8A-4147-A177-3AD203B41FA5}">
                      <a16:colId xmlns:a16="http://schemas.microsoft.com/office/drawing/2014/main" val="20000"/>
                    </a:ext>
                  </a:extLst>
                </a:gridCol>
              </a:tblGrid>
              <a:tr h="396250">
                <a:tc>
                  <a:txBody>
                    <a:bodyPr/>
                    <a:lstStyle/>
                    <a:p>
                      <a:pPr marL="0" marR="0" lvl="0" indent="0" algn="ctr" rtl="0">
                        <a:spcBef>
                          <a:spcPts val="0"/>
                        </a:spcBef>
                        <a:spcAft>
                          <a:spcPts val="0"/>
                        </a:spcAft>
                        <a:buNone/>
                      </a:pPr>
                      <a:r>
                        <a:rPr lang="es-CO" sz="2000" u="none" strike="noStrike" cap="none"/>
                        <a:t>Objetivo del evento</a:t>
                      </a:r>
                      <a:endParaRPr sz="2000" u="none" strike="noStrike" cap="none"/>
                    </a:p>
                  </a:txBody>
                  <a:tcPr marL="91450" marR="91450" marT="45725" marB="45725" anchor="ctr">
                    <a:solidFill>
                      <a:srgbClr val="089ECE"/>
                    </a:solidFill>
                  </a:tcPr>
                </a:tc>
                <a:extLst>
                  <a:ext uri="{0D108BD9-81ED-4DB2-BD59-A6C34878D82A}">
                    <a16:rowId xmlns:a16="http://schemas.microsoft.com/office/drawing/2014/main" val="10000"/>
                  </a:ext>
                </a:extLst>
              </a:tr>
              <a:tr h="822950">
                <a:tc>
                  <a:txBody>
                    <a:bodyPr/>
                    <a:lstStyle/>
                    <a:p>
                      <a:pPr marL="285750" marR="0" lvl="0" indent="-285750" algn="l" rtl="0">
                        <a:spcBef>
                          <a:spcPts val="0"/>
                        </a:spcBef>
                        <a:spcAft>
                          <a:spcPts val="0"/>
                        </a:spcAft>
                        <a:buClr>
                          <a:schemeClr val="dk1"/>
                        </a:buClr>
                        <a:buSzPts val="1600"/>
                        <a:buFont typeface="Arial"/>
                        <a:buChar char="•"/>
                      </a:pPr>
                      <a:r>
                        <a:rPr lang="es-CO" sz="1400" b="0" u="none" strike="noStrike" cap="none" dirty="0"/>
                        <a:t>Evaluar los resultados técnicos y actitudinales de los </a:t>
                      </a:r>
                      <a:r>
                        <a:rPr lang="es-CO" sz="1400" b="0" u="none" strike="noStrike" cap="none" dirty="0" err="1"/>
                        <a:t>sprints</a:t>
                      </a:r>
                      <a:r>
                        <a:rPr lang="es-CO" sz="1400" b="0" u="none" strike="noStrike" cap="none" dirty="0"/>
                        <a:t> 3 y 4 (Ciclo 2, preparación de datos).</a:t>
                      </a:r>
                    </a:p>
                    <a:p>
                      <a:pPr marL="285750" marR="0" lvl="0" indent="-285750" algn="l" rtl="0">
                        <a:spcBef>
                          <a:spcPts val="0"/>
                        </a:spcBef>
                        <a:spcAft>
                          <a:spcPts val="0"/>
                        </a:spcAft>
                        <a:buClr>
                          <a:schemeClr val="dk1"/>
                        </a:buClr>
                        <a:buSzPts val="1600"/>
                        <a:buFont typeface="Arial"/>
                        <a:buChar char="•"/>
                      </a:pPr>
                      <a:r>
                        <a:rPr lang="es-CO" sz="1400" b="0" u="none" strike="noStrike" cap="none" dirty="0"/>
                        <a:t>Identificar logros, obstáculos y mejoras para el Ciclo 3A: entrenamiento y comparación de modelos.</a:t>
                      </a:r>
                    </a:p>
                    <a:p>
                      <a:pPr marL="285750" marR="0" lvl="0" indent="-285750" algn="l" rtl="0">
                        <a:spcBef>
                          <a:spcPts val="0"/>
                        </a:spcBef>
                        <a:spcAft>
                          <a:spcPts val="0"/>
                        </a:spcAft>
                        <a:buClr>
                          <a:schemeClr val="dk1"/>
                        </a:buClr>
                        <a:buSzPts val="1600"/>
                        <a:buFont typeface="Arial"/>
                        <a:buChar char="•"/>
                      </a:pPr>
                      <a:r>
                        <a:rPr lang="es-CO" sz="1400" b="0" u="none" strike="noStrike" cap="none" dirty="0"/>
                        <a:t>Validar que los datos de entrenamiento son reproducibles, están probados y no tienen fugas de información.</a:t>
                      </a:r>
                    </a:p>
                  </a:txBody>
                  <a:tcPr marL="91450" marR="91450" marT="45725" marB="45725">
                    <a:solidFill>
                      <a:srgbClr val="E7FAFF"/>
                    </a:solidFill>
                  </a:tcPr>
                </a:tc>
                <a:extLst>
                  <a:ext uri="{0D108BD9-81ED-4DB2-BD59-A6C34878D82A}">
                    <a16:rowId xmlns:a16="http://schemas.microsoft.com/office/drawing/2014/main" val="10001"/>
                  </a:ext>
                </a:extLst>
              </a:tr>
              <a:tr h="497775">
                <a:tc>
                  <a:txBody>
                    <a:bodyPr/>
                    <a:lstStyle/>
                    <a:p>
                      <a:pPr marL="0" marR="0" lvl="0" indent="0" algn="ctr" rtl="0">
                        <a:lnSpc>
                          <a:spcPct val="100000"/>
                        </a:lnSpc>
                        <a:spcBef>
                          <a:spcPts val="0"/>
                        </a:spcBef>
                        <a:spcAft>
                          <a:spcPts val="0"/>
                        </a:spcAft>
                        <a:buClr>
                          <a:schemeClr val="lt1"/>
                        </a:buClr>
                        <a:buSzPts val="2000"/>
                        <a:buFont typeface="Calibri"/>
                        <a:buNone/>
                      </a:pPr>
                      <a:r>
                        <a:rPr lang="es-CO" sz="2000" b="1" u="none" strike="noStrike" cap="none">
                          <a:solidFill>
                            <a:schemeClr val="lt1"/>
                          </a:solidFill>
                        </a:rPr>
                        <a:t>¿Cómo llegamos a este evento?</a:t>
                      </a:r>
                      <a:endParaRPr sz="2000" b="1" u="none" strike="noStrike" cap="none">
                        <a:solidFill>
                          <a:schemeClr val="lt1"/>
                        </a:solidFill>
                      </a:endParaRPr>
                    </a:p>
                  </a:txBody>
                  <a:tcPr marL="91450" marR="91450" marT="45725" marB="45725" anchor="ctr">
                    <a:solidFill>
                      <a:srgbClr val="089ECE"/>
                    </a:solidFill>
                  </a:tcPr>
                </a:tc>
                <a:extLst>
                  <a:ext uri="{0D108BD9-81ED-4DB2-BD59-A6C34878D82A}">
                    <a16:rowId xmlns:a16="http://schemas.microsoft.com/office/drawing/2014/main" val="10002"/>
                  </a:ext>
                </a:extLst>
              </a:tr>
              <a:tr h="2411275">
                <a:tc>
                  <a:txBody>
                    <a:bodyPr/>
                    <a:lstStyle/>
                    <a:p>
                      <a:pPr marL="0" marR="0" lvl="0" indent="0" algn="l" rtl="0">
                        <a:spcBef>
                          <a:spcPts val="0"/>
                        </a:spcBef>
                        <a:spcAft>
                          <a:spcPts val="0"/>
                        </a:spcAft>
                        <a:buNone/>
                      </a:pPr>
                      <a:r>
                        <a:rPr lang="es-CO" sz="1400" b="1" dirty="0"/>
                        <a:t>Ciclo 1 (</a:t>
                      </a:r>
                      <a:r>
                        <a:rPr lang="es-CO" sz="1400" b="1" dirty="0" err="1"/>
                        <a:t>sprints</a:t>
                      </a:r>
                      <a:r>
                        <a:rPr lang="es-CO" sz="1400" b="1" dirty="0"/>
                        <a:t> 1 y 2): </a:t>
                      </a:r>
                      <a:r>
                        <a:rPr lang="es-CO" sz="1400" dirty="0"/>
                        <a:t>Mapa de empatía con usuarios principiantes y prototipo validado. Primera base de datos con IEFIC para clasificar el perfil de riesgo.</a:t>
                      </a:r>
                    </a:p>
                    <a:p>
                      <a:pPr marL="0" marR="0" lvl="0" indent="0" algn="l" rtl="0">
                        <a:spcBef>
                          <a:spcPts val="0"/>
                        </a:spcBef>
                        <a:spcAft>
                          <a:spcPts val="0"/>
                        </a:spcAft>
                        <a:buNone/>
                      </a:pPr>
                      <a:r>
                        <a:rPr lang="es-CO" sz="1400" b="1" dirty="0"/>
                        <a:t>Estado del arte v1.1: </a:t>
                      </a:r>
                      <a:r>
                        <a:rPr lang="es-CO" sz="1400" dirty="0"/>
                        <a:t>El profe pidió que cada decisión saliera de artículos leídos. Revisamos 47 documentos y 11 </a:t>
                      </a:r>
                      <a:r>
                        <a:rPr lang="es-CO" sz="1400" dirty="0" err="1"/>
                        <a:t>datasets</a:t>
                      </a:r>
                      <a:r>
                        <a:rPr lang="es-CO" sz="1400" dirty="0"/>
                        <a:t> públicos y reorientamos el objetivo: predecir si una persona con inversiones vende o mantiene durante una caída del mercado.</a:t>
                      </a:r>
                    </a:p>
                    <a:p>
                      <a:pPr marL="0" marR="0" lvl="0" indent="0" algn="l" rtl="0">
                        <a:spcBef>
                          <a:spcPts val="0"/>
                        </a:spcBef>
                        <a:spcAft>
                          <a:spcPts val="0"/>
                        </a:spcAft>
                        <a:buNone/>
                      </a:pPr>
                      <a:r>
                        <a:rPr lang="es-CO" sz="1400" b="1" dirty="0" err="1"/>
                        <a:t>Sprints</a:t>
                      </a:r>
                      <a:r>
                        <a:rPr lang="es-CO" sz="1400" b="1" dirty="0"/>
                        <a:t> 3 y 4: </a:t>
                      </a:r>
                      <a:r>
                        <a:rPr lang="es-CO" sz="1400" dirty="0"/>
                        <a:t>Protocolo de evaluación, limpieza del repositorio, datos de Japón y EE. UU. preparados y probados, algunos datos de Colombia (en evaluación) 17 variables definidas y un primer ejercicio de entrenamiento con 7 modelos.</a:t>
                      </a:r>
                    </a:p>
                  </a:txBody>
                  <a:tcPr marL="91450" marR="91450" marT="45725" marB="45725"/>
                </a:tc>
                <a:extLst>
                  <a:ext uri="{0D108BD9-81ED-4DB2-BD59-A6C34878D82A}">
                    <a16:rowId xmlns:a16="http://schemas.microsoft.com/office/drawing/2014/main" val="10003"/>
                  </a:ext>
                </a:extLst>
              </a:tr>
            </a:tbl>
          </a:graphicData>
        </a:graphic>
      </p:graphicFrame>
      <p:sp>
        <p:nvSpPr>
          <p:cNvPr id="115" name="Google Shape;115;p3"/>
          <p:cNvSpPr txBox="1"/>
          <p:nvPr/>
        </p:nvSpPr>
        <p:spPr>
          <a:xfrm>
            <a:off x="731227" y="295537"/>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a:solidFill>
                  <a:srgbClr val="00D2F0"/>
                </a:solidFill>
                <a:latin typeface="Calibri"/>
                <a:ea typeface="Calibri"/>
                <a:cs typeface="Calibri"/>
                <a:sym typeface="Calibri"/>
              </a:rPr>
              <a:t>Sprint Retrospective - </a:t>
            </a:r>
            <a:r>
              <a:rPr lang="es-CO" sz="3200" b="1">
                <a:solidFill>
                  <a:schemeClr val="lt1"/>
                </a:solidFill>
                <a:latin typeface="Calibri"/>
                <a:ea typeface="Calibri"/>
                <a:cs typeface="Calibri"/>
                <a:sym typeface="Calibri"/>
              </a:rPr>
              <a:t>Ciclo 2</a:t>
            </a:r>
            <a:endParaRPr sz="1800" b="1">
              <a:solidFill>
                <a:schemeClr val="lt1"/>
              </a:solidFill>
              <a:latin typeface="Calibri"/>
              <a:ea typeface="Calibri"/>
              <a:cs typeface="Calibri"/>
              <a:sym typeface="Calibri"/>
            </a:endParaRPr>
          </a:p>
        </p:txBody>
      </p:sp>
      <p:sp>
        <p:nvSpPr>
          <p:cNvPr id="116" name="Google Shape;116;p3"/>
          <p:cNvSpPr txBox="1"/>
          <p:nvPr/>
        </p:nvSpPr>
        <p:spPr>
          <a:xfrm>
            <a:off x="540986" y="1466772"/>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200" b="1">
                <a:solidFill>
                  <a:srgbClr val="089ECE"/>
                </a:solidFill>
                <a:latin typeface="Calibri"/>
                <a:ea typeface="Calibri"/>
                <a:cs typeface="Calibri"/>
                <a:sym typeface="Calibri"/>
              </a:rPr>
              <a:t>Fase 1 – Preparación del escenario </a:t>
            </a:r>
            <a:endParaRPr sz="2200" b="1">
              <a:solidFill>
                <a:srgbClr val="089EC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grpSp>
        <p:nvGrpSpPr>
          <p:cNvPr id="122" name="Google Shape;122;p4"/>
          <p:cNvGrpSpPr/>
          <p:nvPr/>
        </p:nvGrpSpPr>
        <p:grpSpPr>
          <a:xfrm>
            <a:off x="0" y="5878"/>
            <a:ext cx="12192000" cy="1238221"/>
            <a:chOff x="0" y="0"/>
            <a:chExt cx="12192000" cy="1238221"/>
          </a:xfrm>
        </p:grpSpPr>
        <p:pic>
          <p:nvPicPr>
            <p:cNvPr id="123" name="Google Shape;123;p4"/>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124" name="Google Shape;124;p4"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25" name="Google Shape;125;p4"/>
          <p:cNvPicPr preferRelativeResize="0"/>
          <p:nvPr/>
        </p:nvPicPr>
        <p:blipFill rotWithShape="1">
          <a:blip r:embed="rId5">
            <a:alphaModFix/>
          </a:blip>
          <a:srcRect/>
          <a:stretch/>
        </p:blipFill>
        <p:spPr>
          <a:xfrm>
            <a:off x="0" y="6766769"/>
            <a:ext cx="12192000" cy="95151"/>
          </a:xfrm>
          <a:prstGeom prst="rect">
            <a:avLst/>
          </a:prstGeom>
          <a:noFill/>
          <a:ln>
            <a:noFill/>
          </a:ln>
        </p:spPr>
      </p:pic>
      <p:graphicFrame>
        <p:nvGraphicFramePr>
          <p:cNvPr id="126" name="Google Shape;126;p4"/>
          <p:cNvGraphicFramePr/>
          <p:nvPr/>
        </p:nvGraphicFramePr>
        <p:xfrm>
          <a:off x="527539" y="1962505"/>
          <a:ext cx="11112000" cy="457210"/>
        </p:xfrm>
        <a:graphic>
          <a:graphicData uri="http://schemas.openxmlformats.org/drawingml/2006/table">
            <a:tbl>
              <a:tblPr firstRow="1" bandRow="1">
                <a:noFill/>
                <a:tableStyleId>{F4FE14CA-BAC7-4632-A691-3EBAED7692A0}</a:tableStyleId>
              </a:tblPr>
              <a:tblGrid>
                <a:gridCol w="11112000">
                  <a:extLst>
                    <a:ext uri="{9D8B030D-6E8A-4147-A177-3AD203B41FA5}">
                      <a16:colId xmlns:a16="http://schemas.microsoft.com/office/drawing/2014/main" val="20000"/>
                    </a:ext>
                  </a:extLst>
                </a:gridCol>
              </a:tblGrid>
              <a:tr h="161550">
                <a:tc>
                  <a:txBody>
                    <a:bodyPr/>
                    <a:lstStyle/>
                    <a:p>
                      <a:pPr marL="0" marR="0" lvl="0" indent="0" algn="ctr" rtl="0">
                        <a:spcBef>
                          <a:spcPts val="0"/>
                        </a:spcBef>
                        <a:spcAft>
                          <a:spcPts val="0"/>
                        </a:spcAft>
                        <a:buNone/>
                      </a:pPr>
                      <a:r>
                        <a:rPr lang="es-CO" sz="2400"/>
                        <a:t>Hitos o eventos más significativos de los sprint 3 y 4</a:t>
                      </a:r>
                      <a:endParaRPr sz="2400"/>
                    </a:p>
                  </a:txBody>
                  <a:tcPr marL="91450" marR="91450" marT="45725" marB="45725" anchor="ctr">
                    <a:solidFill>
                      <a:srgbClr val="089ECE"/>
                    </a:solidFill>
                  </a:tcPr>
                </a:tc>
                <a:extLst>
                  <a:ext uri="{0D108BD9-81ED-4DB2-BD59-A6C34878D82A}">
                    <a16:rowId xmlns:a16="http://schemas.microsoft.com/office/drawing/2014/main" val="10000"/>
                  </a:ext>
                </a:extLst>
              </a:tr>
            </a:tbl>
          </a:graphicData>
        </a:graphic>
      </p:graphicFrame>
      <p:sp>
        <p:nvSpPr>
          <p:cNvPr id="127" name="Google Shape;127;p4"/>
          <p:cNvSpPr txBox="1"/>
          <p:nvPr/>
        </p:nvSpPr>
        <p:spPr>
          <a:xfrm>
            <a:off x="527539" y="336398"/>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a:solidFill>
                  <a:srgbClr val="00D2F0"/>
                </a:solidFill>
                <a:latin typeface="Arial"/>
                <a:ea typeface="Arial"/>
                <a:cs typeface="Arial"/>
                <a:sym typeface="Arial"/>
              </a:rPr>
              <a:t>Sprint Retrospective - </a:t>
            </a:r>
            <a:r>
              <a:rPr lang="es-CO" sz="3200" b="1">
                <a:solidFill>
                  <a:schemeClr val="lt1"/>
                </a:solidFill>
                <a:latin typeface="Arial"/>
                <a:ea typeface="Arial"/>
                <a:cs typeface="Arial"/>
                <a:sym typeface="Arial"/>
              </a:rPr>
              <a:t>Ciclo 2</a:t>
            </a:r>
            <a:endParaRPr sz="1800" b="1">
              <a:solidFill>
                <a:schemeClr val="lt1"/>
              </a:solidFill>
              <a:latin typeface="Arial"/>
              <a:ea typeface="Arial"/>
              <a:cs typeface="Arial"/>
              <a:sym typeface="Arial"/>
            </a:endParaRPr>
          </a:p>
        </p:txBody>
      </p:sp>
      <p:sp>
        <p:nvSpPr>
          <p:cNvPr id="128" name="Google Shape;128;p4"/>
          <p:cNvSpPr txBox="1"/>
          <p:nvPr/>
        </p:nvSpPr>
        <p:spPr>
          <a:xfrm>
            <a:off x="527539" y="1424135"/>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200" b="1">
                <a:solidFill>
                  <a:srgbClr val="089ECE"/>
                </a:solidFill>
                <a:latin typeface="Calibri"/>
                <a:ea typeface="Calibri"/>
                <a:cs typeface="Calibri"/>
                <a:sym typeface="Calibri"/>
              </a:rPr>
              <a:t>Fase 2 – Recolección de información</a:t>
            </a:r>
            <a:endParaRPr sz="2200" b="1">
              <a:solidFill>
                <a:srgbClr val="089ECE"/>
              </a:solidFill>
              <a:latin typeface="Calibri"/>
              <a:ea typeface="Calibri"/>
              <a:cs typeface="Calibri"/>
              <a:sym typeface="Calibri"/>
            </a:endParaRPr>
          </a:p>
        </p:txBody>
      </p:sp>
      <p:graphicFrame>
        <p:nvGraphicFramePr>
          <p:cNvPr id="129" name="Google Shape;129;p4"/>
          <p:cNvGraphicFramePr/>
          <p:nvPr>
            <p:extLst>
              <p:ext uri="{D42A27DB-BD31-4B8C-83A1-F6EECF244321}">
                <p14:modId xmlns:p14="http://schemas.microsoft.com/office/powerpoint/2010/main" val="2003045417"/>
              </p:ext>
            </p:extLst>
          </p:nvPr>
        </p:nvGraphicFramePr>
        <p:xfrm>
          <a:off x="333050" y="2475195"/>
          <a:ext cx="11617950" cy="3672850"/>
        </p:xfrm>
        <a:graphic>
          <a:graphicData uri="http://schemas.openxmlformats.org/drawingml/2006/table">
            <a:tbl>
              <a:tblPr firstRow="1" bandRow="1">
                <a:noFill/>
                <a:tableStyleId>{A4D24A14-C9F0-4CB3-BA6E-3FB01A3D26FB}</a:tableStyleId>
              </a:tblPr>
              <a:tblGrid>
                <a:gridCol w="3473400">
                  <a:extLst>
                    <a:ext uri="{9D8B030D-6E8A-4147-A177-3AD203B41FA5}">
                      <a16:colId xmlns:a16="http://schemas.microsoft.com/office/drawing/2014/main" val="20000"/>
                    </a:ext>
                  </a:extLst>
                </a:gridCol>
                <a:gridCol w="8144550">
                  <a:extLst>
                    <a:ext uri="{9D8B030D-6E8A-4147-A177-3AD203B41FA5}">
                      <a16:colId xmlns:a16="http://schemas.microsoft.com/office/drawing/2014/main" val="20001"/>
                    </a:ext>
                  </a:extLst>
                </a:gridCol>
              </a:tblGrid>
              <a:tr h="914400">
                <a:tc>
                  <a:txBody>
                    <a:bodyPr/>
                    <a:lstStyle/>
                    <a:p>
                      <a:pPr marL="0" marR="0" lvl="0" indent="0" algn="just" rtl="0">
                        <a:spcBef>
                          <a:spcPts val="0"/>
                        </a:spcBef>
                        <a:spcAft>
                          <a:spcPts val="0"/>
                        </a:spcAft>
                        <a:buNone/>
                      </a:pPr>
                      <a:r>
                        <a:rPr lang="es-CO" sz="1300"/>
                        <a:t>Objetivo reorientado con el estado del arte</a:t>
                      </a:r>
                    </a:p>
                  </a:txBody>
                  <a:tcPr marL="91450" marR="91450" marT="45725" marB="45725"/>
                </a:tc>
                <a:tc>
                  <a:txBody>
                    <a:bodyPr/>
                    <a:lstStyle/>
                    <a:p>
                      <a:pPr marL="0" marR="0" lvl="0" indent="0" algn="just" rtl="0">
                        <a:spcBef>
                          <a:spcPts val="0"/>
                        </a:spcBef>
                        <a:spcAft>
                          <a:spcPts val="0"/>
                        </a:spcAft>
                        <a:buNone/>
                      </a:pPr>
                      <a:r>
                        <a:rPr lang="es-CO" sz="1300" dirty="0"/>
                        <a:t>El modelo deja de clasificar el perfil de riesgo y predice si una persona con inversiones vende o mantiene en una caída. Entrena con la encuesta japonesa de marzo de 2020 (</a:t>
                      </a:r>
                      <a:r>
                        <a:rPr lang="es-CO" sz="1300" dirty="0" err="1"/>
                        <a:t>Bawalle</a:t>
                      </a:r>
                      <a:r>
                        <a:rPr lang="es-CO" sz="1300" dirty="0"/>
                        <a:t> et al., 2025): única fuente pública grande con conocimiento financiero y confianza.</a:t>
                      </a:r>
                    </a:p>
                  </a:txBody>
                  <a:tcPr marL="91450" marR="91450" marT="45725" marB="45725"/>
                </a:tc>
                <a:extLst>
                  <a:ext uri="{0D108BD9-81ED-4DB2-BD59-A6C34878D82A}">
                    <a16:rowId xmlns:a16="http://schemas.microsoft.com/office/drawing/2014/main" val="10000"/>
                  </a:ext>
                </a:extLst>
              </a:tr>
              <a:tr h="914400">
                <a:tc>
                  <a:txBody>
                    <a:bodyPr/>
                    <a:lstStyle/>
                    <a:p>
                      <a:pPr marL="0" marR="0" lvl="0" indent="0" algn="just" rtl="0">
                        <a:spcBef>
                          <a:spcPts val="0"/>
                        </a:spcBef>
                        <a:spcAft>
                          <a:spcPts val="0"/>
                        </a:spcAft>
                        <a:buNone/>
                      </a:pPr>
                      <a:r>
                        <a:rPr lang="es-CO" sz="1300" dirty="0"/>
                        <a:t>Datos de entrenamiento listos</a:t>
                      </a:r>
                    </a:p>
                  </a:txBody>
                  <a:tcPr marL="91450" marR="91450" marT="45725" marB="45725"/>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ES" sz="1400" dirty="0"/>
                        <a:t>Culminación exitosa de la etapa de preparación de datos, destacando la integración de fuentes transaccionales y de mercado con el </a:t>
                      </a:r>
                      <a:r>
                        <a:rPr lang="es-ES" sz="1400" dirty="0" err="1"/>
                        <a:t>dataset</a:t>
                      </a:r>
                      <a:r>
                        <a:rPr lang="es-ES" sz="1400" dirty="0"/>
                        <a:t> de Japón como base principal, la limpieza de anomalías bursátiles, el filtrado de no inversionistas. </a:t>
                      </a:r>
                      <a:endParaRPr lang="es-ES" sz="1200" dirty="0"/>
                    </a:p>
                    <a:p>
                      <a:pPr marL="0" marR="0" lvl="0" indent="0" algn="just" rtl="0">
                        <a:spcBef>
                          <a:spcPts val="0"/>
                        </a:spcBef>
                        <a:spcAft>
                          <a:spcPts val="0"/>
                        </a:spcAft>
                        <a:buNone/>
                      </a:pPr>
                      <a:endParaRPr lang="es-CO" sz="1300" dirty="0"/>
                    </a:p>
                  </a:txBody>
                  <a:tcPr marL="91450" marR="91450" marT="45725" marB="45725"/>
                </a:tc>
                <a:extLst>
                  <a:ext uri="{0D108BD9-81ED-4DB2-BD59-A6C34878D82A}">
                    <a16:rowId xmlns:a16="http://schemas.microsoft.com/office/drawing/2014/main" val="10001"/>
                  </a:ext>
                </a:extLst>
              </a:tr>
              <a:tr h="914400">
                <a:tc>
                  <a:txBody>
                    <a:bodyPr/>
                    <a:lstStyle/>
                    <a:p>
                      <a:pPr marL="0" marR="0" lvl="0" indent="0" algn="just" rtl="0">
                        <a:spcBef>
                          <a:spcPts val="0"/>
                        </a:spcBef>
                        <a:spcAft>
                          <a:spcPts val="0"/>
                        </a:spcAft>
                        <a:buNone/>
                      </a:pPr>
                      <a:r>
                        <a:rPr lang="es-CO" sz="1300" dirty="0"/>
                        <a:t>Protocolo y repositorio ordenados</a:t>
                      </a:r>
                    </a:p>
                  </a:txBody>
                  <a:tcPr marL="91450" marR="91450" marT="45725" marB="45725"/>
                </a:tc>
                <a:tc>
                  <a:txBody>
                    <a:bodyPr/>
                    <a:lstStyle/>
                    <a:p>
                      <a:pPr marL="0" marR="0" lvl="0" indent="0" algn="just" rtl="0">
                        <a:spcBef>
                          <a:spcPts val="0"/>
                        </a:spcBef>
                        <a:spcAft>
                          <a:spcPts val="0"/>
                        </a:spcAft>
                        <a:buNone/>
                      </a:pPr>
                      <a:r>
                        <a:rPr lang="es-CO" sz="1300" dirty="0"/>
                        <a:t>Reglas fijadas antes de entrenar: partición 80/20, validación anidada 5 × 3, métricas y regla para elegir el modelo, cada una con su artículo. Repositorio limpio del plan anterior (</a:t>
                      </a:r>
                      <a:r>
                        <a:rPr lang="es-CO" sz="1300" dirty="0" err="1"/>
                        <a:t>Yahoo</a:t>
                      </a:r>
                      <a:r>
                        <a:rPr lang="es-CO" sz="1300" dirty="0"/>
                        <a:t>, </a:t>
                      </a:r>
                      <a:r>
                        <a:rPr lang="es-CO" sz="1300" dirty="0" err="1"/>
                        <a:t>BanRep</a:t>
                      </a:r>
                      <a:r>
                        <a:rPr lang="es-CO" sz="1300" dirty="0"/>
                        <a:t>, FRED) y documentación de datos y variables.</a:t>
                      </a:r>
                    </a:p>
                  </a:txBody>
                  <a:tcPr marL="91450" marR="91450" marT="45725" marB="45725"/>
                </a:tc>
                <a:extLst>
                  <a:ext uri="{0D108BD9-81ED-4DB2-BD59-A6C34878D82A}">
                    <a16:rowId xmlns:a16="http://schemas.microsoft.com/office/drawing/2014/main" val="10002"/>
                  </a:ext>
                </a:extLst>
              </a:tr>
              <a:tr h="914400">
                <a:tc>
                  <a:txBody>
                    <a:bodyPr/>
                    <a:lstStyle/>
                    <a:p>
                      <a:pPr marL="0" marR="0" lvl="0" indent="0" algn="just" rtl="0">
                        <a:spcBef>
                          <a:spcPts val="0"/>
                        </a:spcBef>
                        <a:spcAft>
                          <a:spcPts val="0"/>
                        </a:spcAft>
                        <a:buNone/>
                      </a:pPr>
                      <a:r>
                        <a:rPr lang="es-CO" sz="1300" dirty="0"/>
                        <a:t>Primer ejercicio de entrenamiento</a:t>
                      </a:r>
                    </a:p>
                  </a:txBody>
                  <a:tcPr marL="91450" marR="91450" marT="45725" marB="45725"/>
                </a:tc>
                <a:tc>
                  <a:txBody>
                    <a:bodyPr/>
                    <a:lstStyle/>
                    <a:p>
                      <a:pPr marL="0" marR="0" lvl="0" indent="0" algn="just" rtl="0">
                        <a:spcBef>
                          <a:spcPts val="0"/>
                        </a:spcBef>
                        <a:spcAft>
                          <a:spcPts val="0"/>
                        </a:spcAft>
                        <a:buNone/>
                      </a:pPr>
                      <a:r>
                        <a:rPr lang="es-CO" sz="1300" dirty="0"/>
                        <a:t>7 modelos con las mismas reglas. En validación cruzada: </a:t>
                      </a:r>
                      <a:r>
                        <a:rPr lang="es-CO" sz="1300" dirty="0" err="1"/>
                        <a:t>XGBoost</a:t>
                      </a:r>
                      <a:r>
                        <a:rPr lang="es-CO" sz="1300" dirty="0"/>
                        <a:t> 0,660, logística 0,646, red neuronal 0,635 de AUROC. Por la regla ganó </a:t>
                      </a:r>
                      <a:r>
                        <a:rPr lang="es-CO" sz="1300" dirty="0" err="1"/>
                        <a:t>XGBoost</a:t>
                      </a:r>
                      <a:r>
                        <a:rPr lang="es-CO" sz="1300" dirty="0"/>
                        <a:t>: AUROC 0,671 en la prueba final (IC 95 %: 0,660 a 0,684). Falta el entrenamiento oficial del equipo.</a:t>
                      </a:r>
                    </a:p>
                  </a:txBody>
                  <a:tcPr marL="91450" marR="91450" marT="45725" marB="45725"/>
                </a:tc>
                <a:extLst>
                  <a:ext uri="{0D108BD9-81ED-4DB2-BD59-A6C34878D82A}">
                    <a16:rowId xmlns:a16="http://schemas.microsoft.com/office/drawing/2014/main" val="10003"/>
                  </a:ext>
                </a:extLst>
              </a:tr>
            </a:tbl>
          </a:graphicData>
        </a:graphic>
      </p:graphicFrame>
      <p:sp>
        <p:nvSpPr>
          <p:cNvPr id="130" name="TextBox 129"/>
          <p:cNvSpPr txBox="1"/>
          <p:nvPr/>
        </p:nvSpPr>
        <p:spPr>
          <a:xfrm>
            <a:off x="255259" y="6203525"/>
            <a:ext cx="11384280" cy="369332"/>
          </a:xfrm>
          <a:prstGeom prst="rect">
            <a:avLst/>
          </a:prstGeom>
          <a:noFill/>
        </p:spPr>
        <p:txBody>
          <a:bodyPr wrap="square">
            <a:spAutoFit/>
          </a:bodyPr>
          <a:lstStyle/>
          <a:p>
            <a:r>
              <a:rPr sz="900" b="1" dirty="0">
                <a:solidFill>
                  <a:srgbClr val="333333"/>
                </a:solidFill>
                <a:latin typeface="Arial"/>
              </a:rPr>
              <a:t>Fuente (</a:t>
            </a:r>
            <a:r>
              <a:rPr sz="900" b="1" dirty="0" err="1">
                <a:solidFill>
                  <a:srgbClr val="333333"/>
                </a:solidFill>
                <a:latin typeface="Arial"/>
              </a:rPr>
              <a:t>mapeada</a:t>
            </a:r>
            <a:r>
              <a:rPr sz="900" b="1" dirty="0">
                <a:solidFill>
                  <a:srgbClr val="333333"/>
                </a:solidFill>
                <a:latin typeface="Arial"/>
              </a:rPr>
              <a:t> y </a:t>
            </a:r>
            <a:r>
              <a:rPr sz="900" b="1" dirty="0" err="1">
                <a:solidFill>
                  <a:srgbClr val="333333"/>
                </a:solidFill>
                <a:latin typeface="Arial"/>
              </a:rPr>
              <a:t>referenciada</a:t>
            </a:r>
            <a:r>
              <a:rPr sz="900" b="1" dirty="0">
                <a:solidFill>
                  <a:srgbClr val="333333"/>
                </a:solidFill>
                <a:latin typeface="Arial"/>
              </a:rPr>
              <a:t> </a:t>
            </a:r>
            <a:r>
              <a:rPr sz="900" b="1" dirty="0" err="1">
                <a:solidFill>
                  <a:srgbClr val="333333"/>
                </a:solidFill>
                <a:latin typeface="Arial"/>
              </a:rPr>
              <a:t>en</a:t>
            </a:r>
            <a:r>
              <a:rPr sz="900" b="1" dirty="0">
                <a:solidFill>
                  <a:srgbClr val="333333"/>
                </a:solidFill>
                <a:latin typeface="Arial"/>
              </a:rPr>
              <a:t> </a:t>
            </a:r>
            <a:r>
              <a:rPr sz="900" b="1" dirty="0" err="1">
                <a:solidFill>
                  <a:srgbClr val="333333"/>
                </a:solidFill>
                <a:latin typeface="Arial"/>
              </a:rPr>
              <a:t>nuestro</a:t>
            </a:r>
            <a:r>
              <a:rPr sz="900" b="1" dirty="0">
                <a:solidFill>
                  <a:srgbClr val="333333"/>
                </a:solidFill>
                <a:latin typeface="Arial"/>
              </a:rPr>
              <a:t> Estado del </a:t>
            </a:r>
            <a:r>
              <a:rPr sz="900" b="1" dirty="0" err="1">
                <a:solidFill>
                  <a:srgbClr val="333333"/>
                </a:solidFill>
                <a:latin typeface="Arial"/>
              </a:rPr>
              <a:t>arte</a:t>
            </a:r>
            <a:r>
              <a:rPr sz="900" b="1" dirty="0">
                <a:solidFill>
                  <a:srgbClr val="333333"/>
                </a:solidFill>
                <a:latin typeface="Arial"/>
              </a:rPr>
              <a:t> v1.1):</a:t>
            </a:r>
          </a:p>
          <a:p>
            <a:r>
              <a:rPr sz="900" b="0" dirty="0" err="1">
                <a:solidFill>
                  <a:srgbClr val="333333"/>
                </a:solidFill>
                <a:latin typeface="Arial"/>
              </a:rPr>
              <a:t>Bawalle</a:t>
            </a:r>
            <a:r>
              <a:rPr sz="900" b="0" dirty="0">
                <a:solidFill>
                  <a:srgbClr val="333333"/>
                </a:solidFill>
                <a:latin typeface="Arial"/>
              </a:rPr>
              <a:t>, A. A., Khan, M. S. R., &amp; Kadoya, Y. (2025). Overconfidence, financial literacy, and panic selling: Evidence from Japan. PLOS ONE, 20(3), e0315622. https://doi.org/10.1371/journal.pone.0315622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pSp>
        <p:nvGrpSpPr>
          <p:cNvPr id="135" name="Google Shape;135;p5"/>
          <p:cNvGrpSpPr/>
          <p:nvPr/>
        </p:nvGrpSpPr>
        <p:grpSpPr>
          <a:xfrm>
            <a:off x="0" y="5878"/>
            <a:ext cx="12192000" cy="1238221"/>
            <a:chOff x="0" y="0"/>
            <a:chExt cx="12192000" cy="1238221"/>
          </a:xfrm>
        </p:grpSpPr>
        <p:pic>
          <p:nvPicPr>
            <p:cNvPr id="136" name="Google Shape;136;p5"/>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137" name="Google Shape;137;p5"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38" name="Google Shape;138;p5"/>
          <p:cNvPicPr preferRelativeResize="0"/>
          <p:nvPr/>
        </p:nvPicPr>
        <p:blipFill rotWithShape="1">
          <a:blip r:embed="rId5">
            <a:alphaModFix/>
          </a:blip>
          <a:srcRect/>
          <a:stretch/>
        </p:blipFill>
        <p:spPr>
          <a:xfrm>
            <a:off x="0" y="6766769"/>
            <a:ext cx="12192000" cy="95151"/>
          </a:xfrm>
          <a:prstGeom prst="rect">
            <a:avLst/>
          </a:prstGeom>
          <a:noFill/>
          <a:ln>
            <a:noFill/>
          </a:ln>
        </p:spPr>
      </p:pic>
      <p:graphicFrame>
        <p:nvGraphicFramePr>
          <p:cNvPr id="139" name="Google Shape;139;p5"/>
          <p:cNvGraphicFramePr/>
          <p:nvPr>
            <p:extLst>
              <p:ext uri="{D42A27DB-BD31-4B8C-83A1-F6EECF244321}">
                <p14:modId xmlns:p14="http://schemas.microsoft.com/office/powerpoint/2010/main" val="396415918"/>
              </p:ext>
            </p:extLst>
          </p:nvPr>
        </p:nvGraphicFramePr>
        <p:xfrm>
          <a:off x="527539" y="1962505"/>
          <a:ext cx="11169150" cy="4497675"/>
        </p:xfrm>
        <a:graphic>
          <a:graphicData uri="http://schemas.openxmlformats.org/drawingml/2006/table">
            <a:tbl>
              <a:tblPr firstRow="1" bandRow="1">
                <a:noFill/>
                <a:tableStyleId>{F4FE14CA-BAC7-4632-A691-3EBAED7692A0}</a:tableStyleId>
              </a:tblPr>
              <a:tblGrid>
                <a:gridCol w="11169150">
                  <a:extLst>
                    <a:ext uri="{9D8B030D-6E8A-4147-A177-3AD203B41FA5}">
                      <a16:colId xmlns:a16="http://schemas.microsoft.com/office/drawing/2014/main" val="20000"/>
                    </a:ext>
                  </a:extLst>
                </a:gridCol>
              </a:tblGrid>
              <a:tr h="870850">
                <a:tc>
                  <a:txBody>
                    <a:bodyPr/>
                    <a:lstStyle/>
                    <a:p>
                      <a:pPr marL="0" marR="0" lvl="0" indent="0" algn="just" rtl="0">
                        <a:spcBef>
                          <a:spcPts val="0"/>
                        </a:spcBef>
                        <a:spcAft>
                          <a:spcPts val="0"/>
                        </a:spcAft>
                        <a:buNone/>
                      </a:pPr>
                      <a:r>
                        <a:rPr lang="es-CO" sz="2000"/>
                        <a:t>¿Qué causó la generación de esos hitos identificados?</a:t>
                      </a:r>
                      <a:endParaRPr sz="2000"/>
                    </a:p>
                  </a:txBody>
                  <a:tcPr marL="91450" marR="91450" marT="45725" marB="45725" anchor="ctr">
                    <a:solidFill>
                      <a:srgbClr val="089ECE"/>
                    </a:solidFill>
                  </a:tcPr>
                </a:tc>
                <a:extLst>
                  <a:ext uri="{0D108BD9-81ED-4DB2-BD59-A6C34878D82A}">
                    <a16:rowId xmlns:a16="http://schemas.microsoft.com/office/drawing/2014/main" val="10000"/>
                  </a:ext>
                </a:extLst>
              </a:tr>
              <a:tr h="3626825">
                <a:tc>
                  <a:txBody>
                    <a:bodyPr/>
                    <a:lstStyle/>
                    <a:p>
                      <a:pPr marL="0" lvl="0" indent="0" algn="l" rtl="0">
                        <a:lnSpc>
                          <a:spcPct val="115000"/>
                        </a:lnSpc>
                        <a:spcBef>
                          <a:spcPts val="1200"/>
                        </a:spcBef>
                        <a:spcAft>
                          <a:spcPts val="0"/>
                        </a:spcAft>
                        <a:buClr>
                          <a:schemeClr val="dk1"/>
                        </a:buClr>
                        <a:buSzPts val="1100"/>
                        <a:buFont typeface="Arial"/>
                        <a:buNone/>
                      </a:pPr>
                      <a:r>
                        <a:rPr lang="es-CO" sz="1400" b="1" dirty="0"/>
                        <a:t>1. Reorientación: </a:t>
                      </a:r>
                      <a:r>
                        <a:rPr lang="es-CO" sz="1400" dirty="0"/>
                        <a:t>El profe exigió sustento en artículos. La literatura mostró que lo que la persona declara coincide poco con lo que hace (NFCS 2018: de 128 que dijeron que venderían, 35 vendieron) y que la venta en una caída sí se puede medir con datos públicos. Por eso, el equipo priorizó analizar la conducta frente al estrés financiero y el posible abandono de la inversión.</a:t>
                      </a:r>
                    </a:p>
                    <a:p>
                      <a:pPr marL="0" lvl="0" indent="0" algn="l" rtl="0">
                        <a:lnSpc>
                          <a:spcPct val="115000"/>
                        </a:lnSpc>
                        <a:spcBef>
                          <a:spcPts val="1200"/>
                        </a:spcBef>
                        <a:spcAft>
                          <a:spcPts val="0"/>
                        </a:spcAft>
                        <a:buClr>
                          <a:schemeClr val="dk1"/>
                        </a:buClr>
                        <a:buSzPts val="1100"/>
                        <a:buFont typeface="Arial"/>
                        <a:buNone/>
                      </a:pPr>
                      <a:r>
                        <a:rPr lang="es-CO" sz="1400" b="1" dirty="0"/>
                        <a:t>2. Datos: </a:t>
                      </a:r>
                      <a:r>
                        <a:rPr lang="es-CO" sz="1400" dirty="0"/>
                        <a:t>No hay datos individuales de Colombia: por eso entrenamos con Japón y contrastamos con EE. UU. Para evitar fugas, excluimos las columnas que definen </a:t>
                      </a:r>
                      <a:r>
                        <a:rPr lang="es-CO" sz="1400" dirty="0" err="1"/>
                        <a:t>sold</a:t>
                      </a:r>
                      <a:r>
                        <a:rPr lang="es-CO" sz="1400" dirty="0"/>
                        <a:t> y fijamos la partición antes de entrenar. La encuesta se respondió en 2023 sobre 2020: es un límite declarado.</a:t>
                      </a:r>
                    </a:p>
                    <a:p>
                      <a:pPr marL="0" lvl="0" indent="0" algn="l" rtl="0">
                        <a:lnSpc>
                          <a:spcPct val="115000"/>
                        </a:lnSpc>
                        <a:spcBef>
                          <a:spcPts val="1200"/>
                        </a:spcBef>
                        <a:spcAft>
                          <a:spcPts val="0"/>
                        </a:spcAft>
                        <a:buClr>
                          <a:schemeClr val="dk1"/>
                        </a:buClr>
                        <a:buSzPts val="1100"/>
                        <a:buFont typeface="Arial"/>
                        <a:buNone/>
                      </a:pPr>
                      <a:r>
                        <a:rPr lang="es-CO" sz="1400" dirty="0"/>
                        <a:t>La falta de datos colombianos etiquetados sobre ventas de pánico hizo necesario considerar una fuente internacional de referencia (Reserva federal EEUU). Esto planteó retos de limpieza, selección de variables y prevención de fugas temporales.</a:t>
                      </a:r>
                    </a:p>
                    <a:p>
                      <a:pPr marL="0" lvl="0" indent="0" algn="l" rtl="0">
                        <a:lnSpc>
                          <a:spcPct val="115000"/>
                        </a:lnSpc>
                        <a:spcBef>
                          <a:spcPts val="1200"/>
                        </a:spcBef>
                        <a:spcAft>
                          <a:spcPts val="0"/>
                        </a:spcAft>
                        <a:buClr>
                          <a:schemeClr val="dk1"/>
                        </a:buClr>
                        <a:buSzPts val="1100"/>
                        <a:buFont typeface="Arial"/>
                        <a:buNone/>
                      </a:pPr>
                      <a:r>
                        <a:rPr lang="es-CO" sz="1400" b="1" dirty="0"/>
                        <a:t>3. Modelos: </a:t>
                      </a:r>
                      <a:r>
                        <a:rPr lang="es-CO" sz="1400" dirty="0"/>
                        <a:t>Los árboles superan a la logística por poco (0,014), como predice la literatura en datos tabulares (McElfresh et al., 2023). La red neuronal fue la más débil e inestable (</a:t>
                      </a:r>
                      <a:r>
                        <a:rPr lang="es-CO" sz="1400" dirty="0" err="1"/>
                        <a:t>Grinsztajn</a:t>
                      </a:r>
                      <a:r>
                        <a:rPr lang="es-CO" sz="1400" dirty="0"/>
                        <a:t> et al., 2022). Ningún modelo pasa de 0,67: con solo un cuestionario la señal es modesta (hipótesis).</a:t>
                      </a:r>
                    </a:p>
                    <a:p>
                      <a:pPr marL="0" indent="0">
                        <a:spcBef>
                          <a:spcPts val="600"/>
                        </a:spcBef>
                        <a:buNone/>
                      </a:pPr>
                      <a:r>
                        <a:rPr lang="es-CO" sz="800" b="1" dirty="0"/>
                        <a:t>Fuentes (mapeadas y referenciadas en nuestro Estado del arte v1.1):</a:t>
                      </a:r>
                    </a:p>
                    <a:p>
                      <a:pPr marL="0" indent="0">
                        <a:buNone/>
                      </a:pPr>
                      <a:r>
                        <a:rPr lang="es-CO" sz="800" b="0" dirty="0"/>
                        <a:t>FINRA Investor Education Foundation. National Financial Capability Study, Investor Survey 2018 [datos]. https://www.finrafoundation.org/knowledge-we-gain-share/nfcs/data-and-downloads</a:t>
                      </a:r>
                    </a:p>
                    <a:p>
                      <a:pPr marL="0" indent="0">
                        <a:buNone/>
                      </a:pPr>
                      <a:r>
                        <a:rPr lang="es-CO" sz="800" b="0" dirty="0"/>
                        <a:t>Board of Governors of the Federal Reserve System. 2007-09 Panel Survey of Consumer Finances [datos]. https://www.federalreserve.gov/econres/scf_2009p.htm</a:t>
                      </a:r>
                    </a:p>
                    <a:p>
                      <a:pPr marL="0" indent="0">
                        <a:buNone/>
                      </a:pPr>
                      <a:r>
                        <a:rPr lang="es-CO" sz="800" b="0" dirty="0"/>
                        <a:t>McElfresh, D., et al. (2023). When do neural nets outperform boosted trees on tabular data? NeurIPS 36. https://arxiv.org/abs/2305.02997</a:t>
                      </a:r>
                    </a:p>
                    <a:p>
                      <a:pPr marL="0" indent="0">
                        <a:buNone/>
                      </a:pPr>
                      <a:r>
                        <a:rPr lang="es-CO" sz="800" b="0" dirty="0"/>
                        <a:t>Grinsztajn, L., Oyallon, E., &amp; Varoquaux, G. (2022). Why do tree-based models still outperform deep learning on typical tabular data? NeurIPS 35. https://arxiv.org/abs/2207.08815</a:t>
                      </a:r>
                    </a:p>
                  </a:txBody>
                  <a:tcPr marL="91450" marR="91450" marT="45725" marB="45725"/>
                </a:tc>
                <a:extLst>
                  <a:ext uri="{0D108BD9-81ED-4DB2-BD59-A6C34878D82A}">
                    <a16:rowId xmlns:a16="http://schemas.microsoft.com/office/drawing/2014/main" val="10001"/>
                  </a:ext>
                </a:extLst>
              </a:tr>
            </a:tbl>
          </a:graphicData>
        </a:graphic>
      </p:graphicFrame>
      <p:sp>
        <p:nvSpPr>
          <p:cNvPr id="140" name="Google Shape;140;p5"/>
          <p:cNvSpPr txBox="1"/>
          <p:nvPr/>
        </p:nvSpPr>
        <p:spPr>
          <a:xfrm>
            <a:off x="527539" y="332292"/>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a:solidFill>
                  <a:srgbClr val="00D2F0"/>
                </a:solidFill>
                <a:latin typeface="Calibri"/>
                <a:ea typeface="Calibri"/>
                <a:cs typeface="Calibri"/>
                <a:sym typeface="Calibri"/>
              </a:rPr>
              <a:t>Sprint Retrospective - </a:t>
            </a:r>
            <a:r>
              <a:rPr lang="es-CO" sz="3200" b="1">
                <a:solidFill>
                  <a:schemeClr val="lt1"/>
                </a:solidFill>
                <a:latin typeface="Calibri"/>
                <a:ea typeface="Calibri"/>
                <a:cs typeface="Calibri"/>
                <a:sym typeface="Calibri"/>
              </a:rPr>
              <a:t>Ciclo 2</a:t>
            </a:r>
            <a:endParaRPr sz="1800" b="1">
              <a:solidFill>
                <a:schemeClr val="lt1"/>
              </a:solidFill>
              <a:latin typeface="Calibri"/>
              <a:ea typeface="Calibri"/>
              <a:cs typeface="Calibri"/>
              <a:sym typeface="Calibri"/>
            </a:endParaRPr>
          </a:p>
        </p:txBody>
      </p:sp>
      <p:sp>
        <p:nvSpPr>
          <p:cNvPr id="141" name="Google Shape;141;p5"/>
          <p:cNvSpPr txBox="1"/>
          <p:nvPr/>
        </p:nvSpPr>
        <p:spPr>
          <a:xfrm>
            <a:off x="527539" y="1420029"/>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200" b="1">
                <a:solidFill>
                  <a:srgbClr val="089ECE"/>
                </a:solidFill>
                <a:latin typeface="Calibri"/>
                <a:ea typeface="Calibri"/>
                <a:cs typeface="Calibri"/>
                <a:sym typeface="Calibri"/>
              </a:rPr>
              <a:t>Fase 3 – Generar insigths</a:t>
            </a:r>
            <a:endParaRPr sz="2200" b="1">
              <a:solidFill>
                <a:srgbClr val="089ECE"/>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grpSp>
        <p:nvGrpSpPr>
          <p:cNvPr id="147" name="Google Shape;147;p6"/>
          <p:cNvGrpSpPr/>
          <p:nvPr/>
        </p:nvGrpSpPr>
        <p:grpSpPr>
          <a:xfrm>
            <a:off x="0" y="5878"/>
            <a:ext cx="12192000" cy="1238221"/>
            <a:chOff x="0" y="0"/>
            <a:chExt cx="12192000" cy="1238221"/>
          </a:xfrm>
        </p:grpSpPr>
        <p:pic>
          <p:nvPicPr>
            <p:cNvPr id="148" name="Google Shape;148;p6"/>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149" name="Google Shape;149;p6"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50" name="Google Shape;150;p6"/>
          <p:cNvPicPr preferRelativeResize="0"/>
          <p:nvPr/>
        </p:nvPicPr>
        <p:blipFill rotWithShape="1">
          <a:blip r:embed="rId5">
            <a:alphaModFix/>
          </a:blip>
          <a:srcRect/>
          <a:stretch/>
        </p:blipFill>
        <p:spPr>
          <a:xfrm>
            <a:off x="0" y="6766769"/>
            <a:ext cx="12192000" cy="95151"/>
          </a:xfrm>
          <a:prstGeom prst="rect">
            <a:avLst/>
          </a:prstGeom>
          <a:noFill/>
          <a:ln>
            <a:noFill/>
          </a:ln>
        </p:spPr>
      </p:pic>
      <p:graphicFrame>
        <p:nvGraphicFramePr>
          <p:cNvPr id="151" name="Google Shape;151;p6"/>
          <p:cNvGraphicFramePr/>
          <p:nvPr/>
        </p:nvGraphicFramePr>
        <p:xfrm>
          <a:off x="527539" y="1962506"/>
          <a:ext cx="11169150" cy="568050"/>
        </p:xfrm>
        <a:graphic>
          <a:graphicData uri="http://schemas.openxmlformats.org/drawingml/2006/table">
            <a:tbl>
              <a:tblPr firstRow="1" bandRow="1">
                <a:noFill/>
                <a:tableStyleId>{F4FE14CA-BAC7-4632-A691-3EBAED7692A0}</a:tableStyleId>
              </a:tblPr>
              <a:tblGrid>
                <a:gridCol w="11169150">
                  <a:extLst>
                    <a:ext uri="{9D8B030D-6E8A-4147-A177-3AD203B41FA5}">
                      <a16:colId xmlns:a16="http://schemas.microsoft.com/office/drawing/2014/main" val="20000"/>
                    </a:ext>
                  </a:extLst>
                </a:gridCol>
              </a:tblGrid>
              <a:tr h="568050">
                <a:tc>
                  <a:txBody>
                    <a:bodyPr/>
                    <a:lstStyle/>
                    <a:p>
                      <a:pPr marL="0" marR="0" lvl="0" indent="0" algn="ctr" rtl="0">
                        <a:spcBef>
                          <a:spcPts val="0"/>
                        </a:spcBef>
                        <a:spcAft>
                          <a:spcPts val="0"/>
                        </a:spcAft>
                        <a:buNone/>
                      </a:pPr>
                      <a:r>
                        <a:rPr lang="es-CO" sz="2400"/>
                        <a:t>¿Qué acciones podemos hacer para mejorar o cambiar los hitos identificados?</a:t>
                      </a:r>
                      <a:endParaRPr sz="2400"/>
                    </a:p>
                  </a:txBody>
                  <a:tcPr marL="91450" marR="91450" marT="45725" marB="45725" anchor="ctr">
                    <a:solidFill>
                      <a:srgbClr val="089ECE"/>
                    </a:solidFill>
                  </a:tcPr>
                </a:tc>
                <a:extLst>
                  <a:ext uri="{0D108BD9-81ED-4DB2-BD59-A6C34878D82A}">
                    <a16:rowId xmlns:a16="http://schemas.microsoft.com/office/drawing/2014/main" val="10000"/>
                  </a:ext>
                </a:extLst>
              </a:tr>
            </a:tbl>
          </a:graphicData>
        </a:graphic>
      </p:graphicFrame>
      <p:sp>
        <p:nvSpPr>
          <p:cNvPr id="152" name="Google Shape;152;p6"/>
          <p:cNvSpPr txBox="1"/>
          <p:nvPr/>
        </p:nvSpPr>
        <p:spPr>
          <a:xfrm>
            <a:off x="527539" y="375928"/>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a:solidFill>
                  <a:srgbClr val="00D2F0"/>
                </a:solidFill>
                <a:latin typeface="Calibri"/>
                <a:ea typeface="Calibri"/>
                <a:cs typeface="Calibri"/>
                <a:sym typeface="Calibri"/>
              </a:rPr>
              <a:t>Sprint Retrospective - </a:t>
            </a:r>
            <a:r>
              <a:rPr lang="es-CO" sz="3200" b="1">
                <a:solidFill>
                  <a:schemeClr val="lt1"/>
                </a:solidFill>
                <a:latin typeface="Calibri"/>
                <a:ea typeface="Calibri"/>
                <a:cs typeface="Calibri"/>
                <a:sym typeface="Calibri"/>
              </a:rPr>
              <a:t>Ciclo 2</a:t>
            </a:r>
            <a:endParaRPr sz="1800" b="1">
              <a:solidFill>
                <a:schemeClr val="lt1"/>
              </a:solidFill>
              <a:latin typeface="Calibri"/>
              <a:ea typeface="Calibri"/>
              <a:cs typeface="Calibri"/>
              <a:sym typeface="Calibri"/>
            </a:endParaRPr>
          </a:p>
        </p:txBody>
      </p:sp>
      <p:sp>
        <p:nvSpPr>
          <p:cNvPr id="153" name="Google Shape;153;p6"/>
          <p:cNvSpPr txBox="1"/>
          <p:nvPr/>
        </p:nvSpPr>
        <p:spPr>
          <a:xfrm>
            <a:off x="527539" y="1398089"/>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200" b="1">
                <a:solidFill>
                  <a:srgbClr val="089ECE"/>
                </a:solidFill>
                <a:latin typeface="Calibri"/>
                <a:ea typeface="Calibri"/>
                <a:cs typeface="Calibri"/>
                <a:sym typeface="Calibri"/>
              </a:rPr>
              <a:t>Fase 4 – Plan de mejora</a:t>
            </a:r>
            <a:endParaRPr sz="2200" b="1">
              <a:solidFill>
                <a:srgbClr val="089ECE"/>
              </a:solidFill>
              <a:latin typeface="Calibri"/>
              <a:ea typeface="Calibri"/>
              <a:cs typeface="Calibri"/>
              <a:sym typeface="Calibri"/>
            </a:endParaRPr>
          </a:p>
        </p:txBody>
      </p:sp>
      <p:graphicFrame>
        <p:nvGraphicFramePr>
          <p:cNvPr id="154" name="Google Shape;154;p6"/>
          <p:cNvGraphicFramePr/>
          <p:nvPr>
            <p:extLst>
              <p:ext uri="{D42A27DB-BD31-4B8C-83A1-F6EECF244321}">
                <p14:modId xmlns:p14="http://schemas.microsoft.com/office/powerpoint/2010/main" val="2706053205"/>
              </p:ext>
            </p:extLst>
          </p:nvPr>
        </p:nvGraphicFramePr>
        <p:xfrm>
          <a:off x="195063" y="2636866"/>
          <a:ext cx="11798475" cy="3241870"/>
        </p:xfrm>
        <a:graphic>
          <a:graphicData uri="http://schemas.openxmlformats.org/drawingml/2006/table">
            <a:tbl>
              <a:tblPr firstRow="1" bandRow="1">
                <a:noFill/>
                <a:tableStyleId>{A4D24A14-C9F0-4CB3-BA6E-3FB01A3D26FB}</a:tableStyleId>
              </a:tblPr>
              <a:tblGrid>
                <a:gridCol w="2615325">
                  <a:extLst>
                    <a:ext uri="{9D8B030D-6E8A-4147-A177-3AD203B41FA5}">
                      <a16:colId xmlns:a16="http://schemas.microsoft.com/office/drawing/2014/main" val="20000"/>
                    </a:ext>
                  </a:extLst>
                </a:gridCol>
                <a:gridCol w="9183150">
                  <a:extLst>
                    <a:ext uri="{9D8B030D-6E8A-4147-A177-3AD203B41FA5}">
                      <a16:colId xmlns:a16="http://schemas.microsoft.com/office/drawing/2014/main" val="20001"/>
                    </a:ext>
                  </a:extLst>
                </a:gridCol>
              </a:tblGrid>
              <a:tr h="942750">
                <a:tc>
                  <a:txBody>
                    <a:bodyPr/>
                    <a:lstStyle/>
                    <a:p>
                      <a:pPr marL="0" marR="0" lvl="0" indent="0" algn="l" rtl="0">
                        <a:spcBef>
                          <a:spcPts val="0"/>
                        </a:spcBef>
                        <a:spcAft>
                          <a:spcPts val="0"/>
                        </a:spcAft>
                        <a:buNone/>
                      </a:pPr>
                      <a:r>
                        <a:rPr lang="es-CO" sz="1300" dirty="0"/>
                        <a:t>Entrenamiento oficial</a:t>
                      </a:r>
                    </a:p>
                    <a:p>
                      <a:pPr marL="0" marR="0" lvl="0" indent="0" algn="l" rtl="0">
                        <a:spcBef>
                          <a:spcPts val="0"/>
                        </a:spcBef>
                        <a:spcAft>
                          <a:spcPts val="0"/>
                        </a:spcAft>
                        <a:buNone/>
                      </a:pPr>
                      <a:r>
                        <a:rPr lang="es-CO" sz="1300" dirty="0"/>
                        <a:t>(Dilan, con todos)</a:t>
                      </a:r>
                    </a:p>
                  </a:txBody>
                  <a:tcPr marL="100575" marR="100575" marT="45725" marB="45725"/>
                </a:tc>
                <a:tc>
                  <a:txBody>
                    <a:bodyPr/>
                    <a:lstStyle/>
                    <a:p>
                      <a:pPr marL="0" marR="0" lvl="0" indent="0" algn="l" rtl="0">
                        <a:spcBef>
                          <a:spcPts val="0"/>
                        </a:spcBef>
                        <a:spcAft>
                          <a:spcPts val="0"/>
                        </a:spcAft>
                        <a:buNone/>
                      </a:pPr>
                      <a:r>
                        <a:rPr lang="es-CO" sz="1300" b="0" dirty="0">
                          <a:solidFill>
                            <a:schemeClr val="dk1"/>
                          </a:solidFill>
                          <a:latin typeface="Calibri"/>
                          <a:ea typeface="Calibri"/>
                          <a:cs typeface="Calibri"/>
                          <a:sym typeface="Calibri"/>
                        </a:rPr>
                        <a:t>QUÉ: pasar el ejercicio a train.py con revisión del equipo y presentar el </a:t>
                      </a:r>
                      <a:r>
                        <a:rPr lang="es-CO" sz="1300" b="0" dirty="0" err="1">
                          <a:solidFill>
                            <a:schemeClr val="dk1"/>
                          </a:solidFill>
                          <a:latin typeface="Calibri"/>
                          <a:ea typeface="Calibri"/>
                          <a:cs typeface="Calibri"/>
                          <a:sym typeface="Calibri"/>
                        </a:rPr>
                        <a:t>benchmark</a:t>
                      </a:r>
                      <a:r>
                        <a:rPr lang="es-CO" sz="1300" b="0" dirty="0">
                          <a:solidFill>
                            <a:schemeClr val="dk1"/>
                          </a:solidFill>
                          <a:latin typeface="Calibri"/>
                          <a:ea typeface="Calibri"/>
                          <a:cs typeface="Calibri"/>
                          <a:sym typeface="Calibri"/>
                        </a:rPr>
                        <a:t> en un notebook. CÓMO: cada integrante agrega su modelo a la lista común y se aplica la regla del protocolo, sin cambiar decisiones por el resultado ya visto en la prueba final.</a:t>
                      </a:r>
                    </a:p>
                  </a:txBody>
                  <a:tcPr marL="100575" marR="100575" marT="45725" marB="45725"/>
                </a:tc>
                <a:extLst>
                  <a:ext uri="{0D108BD9-81ED-4DB2-BD59-A6C34878D82A}">
                    <a16:rowId xmlns:a16="http://schemas.microsoft.com/office/drawing/2014/main" val="10000"/>
                  </a:ext>
                </a:extLst>
              </a:tr>
              <a:tr h="942750">
                <a:tc>
                  <a:txBody>
                    <a:bodyPr/>
                    <a:lstStyle/>
                    <a:p>
                      <a:pPr marL="0" marR="0" lvl="0" indent="0" algn="l" rtl="0">
                        <a:spcBef>
                          <a:spcPts val="0"/>
                        </a:spcBef>
                        <a:spcAft>
                          <a:spcPts val="0"/>
                        </a:spcAft>
                        <a:buNone/>
                      </a:pPr>
                      <a:r>
                        <a:rPr lang="es-CO" sz="1300" dirty="0"/>
                        <a:t>Contraste con EE. UU.</a:t>
                      </a:r>
                    </a:p>
                    <a:p>
                      <a:pPr marL="0" marR="0" lvl="0" indent="0" algn="l" rtl="0">
                        <a:spcBef>
                          <a:spcPts val="0"/>
                        </a:spcBef>
                        <a:spcAft>
                          <a:spcPts val="0"/>
                        </a:spcAft>
                        <a:buNone/>
                      </a:pPr>
                      <a:r>
                        <a:rPr lang="es-CO" sz="1300" dirty="0"/>
                        <a:t>(Juan)</a:t>
                      </a:r>
                    </a:p>
                  </a:txBody>
                  <a:tcPr marL="100575" marR="100575" marT="45725" marB="45725"/>
                </a:tc>
                <a:tc>
                  <a:txBody>
                    <a:bodyPr/>
                    <a:lstStyle/>
                    <a:p>
                      <a:pPr marL="0" marR="0" lvl="0" indent="0" algn="l" rtl="0">
                        <a:spcBef>
                          <a:spcPts val="0"/>
                        </a:spcBef>
                        <a:spcAft>
                          <a:spcPts val="0"/>
                        </a:spcAft>
                        <a:buNone/>
                      </a:pPr>
                      <a:r>
                        <a:rPr lang="es-ES" sz="1400" dirty="0"/>
                        <a:t>1. Probar la generalización del modelo ajustado en Japón enfrentándolo directamente a conjuntos de datos de otros mercados (ej. Panel SCF 2007-2009 de EE. UU.) para medir y corregir la degradación de la calibración al cambiar de población.</a:t>
                      </a:r>
                      <a:endParaRPr lang="es-ES" sz="1200" dirty="0"/>
                    </a:p>
                    <a:p>
                      <a:pPr marL="0" marR="0" lvl="0" indent="0" algn="l" rtl="0">
                        <a:spcBef>
                          <a:spcPts val="0"/>
                        </a:spcBef>
                        <a:spcAft>
                          <a:spcPts val="0"/>
                        </a:spcAft>
                        <a:buNone/>
                      </a:pPr>
                      <a:r>
                        <a:rPr lang="es-ES" sz="1400" dirty="0"/>
                        <a:t>2. Estandarizar tramos socioeconómicos (ingresos y activos) mediante percentiles relativos a cada país, permitiendo comparar los datos entre la encuesta de Japón y la población objetivo en Colombia</a:t>
                      </a:r>
                      <a:endParaRPr lang="es-ES" sz="1200" dirty="0"/>
                    </a:p>
                    <a:p>
                      <a:pPr marL="0" marR="0" lvl="0" indent="0" algn="l" rtl="0">
                        <a:spcBef>
                          <a:spcPts val="0"/>
                        </a:spcBef>
                        <a:spcAft>
                          <a:spcPts val="0"/>
                        </a:spcAft>
                        <a:buNone/>
                      </a:pPr>
                      <a:endParaRPr lang="es-CO" sz="1300" dirty="0"/>
                    </a:p>
                  </a:txBody>
                  <a:tcPr marL="100575" marR="100575" marT="45725" marB="45725"/>
                </a:tc>
                <a:extLst>
                  <a:ext uri="{0D108BD9-81ED-4DB2-BD59-A6C34878D82A}">
                    <a16:rowId xmlns:a16="http://schemas.microsoft.com/office/drawing/2014/main" val="10001"/>
                  </a:ext>
                </a:extLst>
              </a:tr>
              <a:tr h="942750">
                <a:tc>
                  <a:txBody>
                    <a:bodyPr/>
                    <a:lstStyle/>
                    <a:p>
                      <a:pPr marL="0" marR="0" lvl="0" indent="0" algn="l" rtl="0">
                        <a:spcBef>
                          <a:spcPts val="0"/>
                        </a:spcBef>
                        <a:spcAft>
                          <a:spcPts val="0"/>
                        </a:spcAft>
                        <a:buNone/>
                      </a:pPr>
                      <a:r>
                        <a:rPr lang="es-CO" sz="1300"/>
                        <a:t>Análisis exploratorio y definiciones</a:t>
                      </a:r>
                    </a:p>
                    <a:p>
                      <a:pPr marL="0" marR="0" lvl="0" indent="0" algn="l" rtl="0">
                        <a:spcBef>
                          <a:spcPts val="0"/>
                        </a:spcBef>
                        <a:spcAft>
                          <a:spcPts val="0"/>
                        </a:spcAft>
                        <a:buNone/>
                      </a:pPr>
                      <a:r>
                        <a:rPr lang="es-CO" sz="1300"/>
                        <a:t>(Luis, Jenny)</a:t>
                      </a:r>
                    </a:p>
                  </a:txBody>
                  <a:tcPr marL="100575" marR="100575" marT="45725" marB="45725"/>
                </a:tc>
                <a:tc>
                  <a:txBody>
                    <a:bodyPr/>
                    <a:lstStyle/>
                    <a:p>
                      <a:pPr marL="0" marR="0" lvl="0" indent="0" algn="l" rtl="0">
                        <a:spcBef>
                          <a:spcPts val="0"/>
                        </a:spcBef>
                        <a:spcAft>
                          <a:spcPts val="0"/>
                        </a:spcAft>
                        <a:buNone/>
                      </a:pPr>
                      <a:r>
                        <a:rPr lang="es-CO" sz="1300" dirty="0"/>
                        <a:t>QUÉ: cerrar lo que el modelo y la app necesitan. CÓMO: terminar el análisis exploratorio de Japón y la redacción de las preguntas de riesgo, y definir los tramos de ingreso y activos en pesos puesto que el modelo actual está en Yenes.</a:t>
                      </a:r>
                    </a:p>
                  </a:txBody>
                  <a:tcPr marL="100575" marR="100575"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7"/>
          <p:cNvGrpSpPr/>
          <p:nvPr/>
        </p:nvGrpSpPr>
        <p:grpSpPr>
          <a:xfrm>
            <a:off x="0" y="5878"/>
            <a:ext cx="12192000" cy="1238221"/>
            <a:chOff x="0" y="0"/>
            <a:chExt cx="12192000" cy="1238221"/>
          </a:xfrm>
        </p:grpSpPr>
        <p:pic>
          <p:nvPicPr>
            <p:cNvPr id="161" name="Google Shape;161;p7"/>
            <p:cNvPicPr preferRelativeResize="0"/>
            <p:nvPr/>
          </p:nvPicPr>
          <p:blipFill rotWithShape="1">
            <a:blip r:embed="rId3">
              <a:alphaModFix/>
            </a:blip>
            <a:srcRect/>
            <a:stretch/>
          </p:blipFill>
          <p:spPr>
            <a:xfrm>
              <a:off x="0" y="0"/>
              <a:ext cx="12192000" cy="1237605"/>
            </a:xfrm>
            <a:prstGeom prst="rect">
              <a:avLst/>
            </a:prstGeom>
            <a:noFill/>
            <a:ln>
              <a:noFill/>
            </a:ln>
          </p:spPr>
        </p:pic>
        <p:pic>
          <p:nvPicPr>
            <p:cNvPr id="162" name="Google Shape;162;p7" descr="Patrón de fondo&#10;&#10;Descripción generada automáticamente"/>
            <p:cNvPicPr preferRelativeResize="0"/>
            <p:nvPr/>
          </p:nvPicPr>
          <p:blipFill rotWithShape="1">
            <a:blip r:embed="rId4">
              <a:alphaModFix/>
            </a:blip>
            <a:srcRect l="69324" b="74763"/>
            <a:stretch/>
          </p:blipFill>
          <p:spPr>
            <a:xfrm>
              <a:off x="9541293" y="11553"/>
              <a:ext cx="2650705" cy="1226668"/>
            </a:xfrm>
            <a:prstGeom prst="rect">
              <a:avLst/>
            </a:prstGeom>
            <a:noFill/>
            <a:ln>
              <a:noFill/>
            </a:ln>
          </p:spPr>
        </p:pic>
      </p:grpSp>
      <p:pic>
        <p:nvPicPr>
          <p:cNvPr id="163" name="Google Shape;163;p7"/>
          <p:cNvPicPr preferRelativeResize="0"/>
          <p:nvPr/>
        </p:nvPicPr>
        <p:blipFill rotWithShape="1">
          <a:blip r:embed="rId5">
            <a:alphaModFix/>
          </a:blip>
          <a:srcRect/>
          <a:stretch/>
        </p:blipFill>
        <p:spPr>
          <a:xfrm>
            <a:off x="0" y="6766769"/>
            <a:ext cx="12192000" cy="95151"/>
          </a:xfrm>
          <a:prstGeom prst="rect">
            <a:avLst/>
          </a:prstGeom>
          <a:noFill/>
          <a:ln>
            <a:noFill/>
          </a:ln>
        </p:spPr>
      </p:pic>
      <p:graphicFrame>
        <p:nvGraphicFramePr>
          <p:cNvPr id="164" name="Google Shape;164;p7"/>
          <p:cNvGraphicFramePr/>
          <p:nvPr>
            <p:extLst>
              <p:ext uri="{D42A27DB-BD31-4B8C-83A1-F6EECF244321}">
                <p14:modId xmlns:p14="http://schemas.microsoft.com/office/powerpoint/2010/main" val="2062770234"/>
              </p:ext>
            </p:extLst>
          </p:nvPr>
        </p:nvGraphicFramePr>
        <p:xfrm>
          <a:off x="527539" y="1962505"/>
          <a:ext cx="11169150" cy="4497675"/>
        </p:xfrm>
        <a:graphic>
          <a:graphicData uri="http://schemas.openxmlformats.org/drawingml/2006/table">
            <a:tbl>
              <a:tblPr firstRow="1" bandRow="1">
                <a:noFill/>
                <a:tableStyleId>{F4FE14CA-BAC7-4632-A691-3EBAED7692A0}</a:tableStyleId>
              </a:tblPr>
              <a:tblGrid>
                <a:gridCol w="11169150">
                  <a:extLst>
                    <a:ext uri="{9D8B030D-6E8A-4147-A177-3AD203B41FA5}">
                      <a16:colId xmlns:a16="http://schemas.microsoft.com/office/drawing/2014/main" val="20000"/>
                    </a:ext>
                  </a:extLst>
                </a:gridCol>
              </a:tblGrid>
              <a:tr h="870850">
                <a:tc>
                  <a:txBody>
                    <a:bodyPr/>
                    <a:lstStyle/>
                    <a:p>
                      <a:pPr marL="0" marR="0" lvl="0" indent="0" algn="ctr" rtl="0">
                        <a:spcBef>
                          <a:spcPts val="0"/>
                        </a:spcBef>
                        <a:spcAft>
                          <a:spcPts val="0"/>
                        </a:spcAft>
                        <a:buNone/>
                      </a:pPr>
                      <a:r>
                        <a:rPr lang="es-CO" sz="2400"/>
                        <a:t>¿Qué acciones podemos hacer mejor o diferente en la próxima retrospectiva?</a:t>
                      </a:r>
                      <a:endParaRPr sz="2400"/>
                    </a:p>
                  </a:txBody>
                  <a:tcPr marL="91450" marR="91450" marT="45725" marB="45725" anchor="ctr">
                    <a:solidFill>
                      <a:srgbClr val="089ECE"/>
                    </a:solidFill>
                  </a:tcPr>
                </a:tc>
                <a:extLst>
                  <a:ext uri="{0D108BD9-81ED-4DB2-BD59-A6C34878D82A}">
                    <a16:rowId xmlns:a16="http://schemas.microsoft.com/office/drawing/2014/main" val="10000"/>
                  </a:ext>
                </a:extLst>
              </a:tr>
              <a:tr h="3626825">
                <a:tc>
                  <a:txBody>
                    <a:bodyPr/>
                    <a:lstStyle/>
                    <a:p>
                      <a:pPr marL="342900" marR="0" lvl="0" indent="-342900" algn="l" rtl="0">
                        <a:spcBef>
                          <a:spcPts val="0"/>
                        </a:spcBef>
                        <a:spcAft>
                          <a:spcPts val="0"/>
                        </a:spcAft>
                        <a:buClr>
                          <a:schemeClr val="dk1"/>
                        </a:buClr>
                        <a:buSzPts val="1800"/>
                        <a:buFont typeface="Calibri"/>
                        <a:buAutoNum type="arabicPeriod"/>
                      </a:pPr>
                      <a:r>
                        <a:rPr lang="es-CO" sz="1400" b="1" dirty="0"/>
                        <a:t>Registrar las decisiones en el repositorio al tomarlas: </a:t>
                      </a:r>
                      <a:r>
                        <a:rPr lang="es-CO" sz="1400" dirty="0"/>
                        <a:t>El protocolo, los datos y las variables ya quedaron en </a:t>
                      </a:r>
                      <a:r>
                        <a:rPr lang="es-CO" sz="1400" dirty="0" err="1"/>
                        <a:t>docs</a:t>
                      </a:r>
                      <a:r>
                        <a:rPr lang="es-CO" sz="1400" dirty="0"/>
                        <a:t>/, y eso facilita escribir el documento del ciclo.</a:t>
                      </a:r>
                    </a:p>
                    <a:p>
                      <a:pPr marL="342900" marR="0" lvl="0" indent="-342900" algn="l" rtl="0">
                        <a:spcBef>
                          <a:spcPts val="0"/>
                        </a:spcBef>
                        <a:spcAft>
                          <a:spcPts val="0"/>
                        </a:spcAft>
                        <a:buClr>
                          <a:schemeClr val="dk1"/>
                        </a:buClr>
                        <a:buSzPts val="1800"/>
                        <a:buFont typeface="Calibri"/>
                        <a:buAutoNum type="arabicPeriod"/>
                      </a:pPr>
                      <a:r>
                        <a:rPr lang="es-CO" sz="1400" b="1" dirty="0"/>
                        <a:t>Verificar cada cifra contra los datos antes de presentarla: </a:t>
                      </a:r>
                      <a:r>
                        <a:rPr lang="es-CO" sz="1400" dirty="0"/>
                        <a:t>Las pruebas automáticas atraparon errores, como un nombre de columna mal escrito. Lo que se presenta debe coincidir con lo hecho.</a:t>
                      </a:r>
                    </a:p>
                    <a:p>
                      <a:pPr marL="342900" marR="0" lvl="0" indent="-342900" algn="l" rtl="0">
                        <a:spcBef>
                          <a:spcPts val="0"/>
                        </a:spcBef>
                        <a:spcAft>
                          <a:spcPts val="0"/>
                        </a:spcAft>
                        <a:buClr>
                          <a:schemeClr val="dk1"/>
                        </a:buClr>
                        <a:buSzPts val="1800"/>
                        <a:buFont typeface="Calibri"/>
                        <a:buAutoNum type="arabicPeriod"/>
                      </a:pPr>
                      <a:r>
                        <a:rPr lang="es-CO" sz="1400" b="1" dirty="0"/>
                        <a:t>Fijar fechas y dependencias desde el inicio del ciclo: </a:t>
                      </a:r>
                      <a:r>
                        <a:rPr lang="es-CO" sz="1400" dirty="0"/>
                        <a:t>El entrenamiento dependía de la tabla de Japón; con fechas claras nadie queda esperando.</a:t>
                      </a:r>
                    </a:p>
                    <a:p>
                      <a:pPr marL="342900" marR="0" lvl="0" indent="-342900" algn="l" rtl="0">
                        <a:spcBef>
                          <a:spcPts val="0"/>
                        </a:spcBef>
                        <a:spcAft>
                          <a:spcPts val="0"/>
                        </a:spcAft>
                        <a:buClr>
                          <a:schemeClr val="dk1"/>
                        </a:buClr>
                        <a:buSzPts val="1800"/>
                        <a:buFont typeface="Calibri"/>
                        <a:buAutoNum type="arabicPeriod"/>
                      </a:pPr>
                      <a:r>
                        <a:rPr lang="es-CO" sz="1400" b="1" dirty="0"/>
                        <a:t>Revisar los mensajes de la app antes del despliegue: </a:t>
                      </a:r>
                      <a:r>
                        <a:rPr lang="es-CO" sz="1400" dirty="0"/>
                        <a:t>Que no se interpreten como asesoría financiera personalizada.</a:t>
                      </a:r>
                    </a:p>
                    <a:p>
                      <a:pPr marL="342900" marR="0" lvl="0" indent="-342900" algn="l" rtl="0">
                        <a:spcBef>
                          <a:spcPts val="0"/>
                        </a:spcBef>
                        <a:spcAft>
                          <a:spcPts val="0"/>
                        </a:spcAft>
                        <a:buClr>
                          <a:schemeClr val="dk1"/>
                        </a:buClr>
                        <a:buSzPts val="1800"/>
                        <a:buFont typeface="Calibri"/>
                        <a:buAutoNum type="arabicPeriod"/>
                      </a:pPr>
                      <a:r>
                        <a:rPr lang="es-ES" sz="1400" dirty="0"/>
                        <a:t>Es posible mejorar </a:t>
                      </a:r>
                      <a:r>
                        <a:rPr lang="es-ES" sz="1400" dirty="0">
                          <a:solidFill>
                            <a:schemeClr val="dk1"/>
                          </a:solidFill>
                          <a:latin typeface="Calibri"/>
                          <a:ea typeface="Calibri"/>
                          <a:cs typeface="Calibri"/>
                          <a:sym typeface="Calibri"/>
                        </a:rPr>
                        <a:t>en la retrospectiva anterior, enfocándonos en métricas estándar de discriminación, como F1-Score. Para la próxima sesión, agregaremos gráficas directas de </a:t>
                      </a:r>
                      <a:r>
                        <a:rPr lang="es-ES" sz="1400" b="0" dirty="0">
                          <a:solidFill>
                            <a:schemeClr val="dk1"/>
                          </a:solidFill>
                          <a:latin typeface="Calibri"/>
                          <a:ea typeface="Calibri"/>
                          <a:cs typeface="Calibri"/>
                          <a:sym typeface="Calibri"/>
                        </a:rPr>
                        <a:t>calibración de probabilidades como Brier Score</a:t>
                      </a:r>
                      <a:r>
                        <a:rPr lang="es-ES" sz="1400" dirty="0">
                          <a:solidFill>
                            <a:schemeClr val="dk1"/>
                          </a:solidFill>
                          <a:latin typeface="Calibri"/>
                          <a:ea typeface="Calibri"/>
                          <a:cs typeface="Calibri"/>
                          <a:sym typeface="Calibri"/>
                        </a:rPr>
                        <a:t> e interpretaciones de valores </a:t>
                      </a:r>
                      <a:r>
                        <a:rPr lang="es-ES" sz="1400" b="0" dirty="0">
                          <a:solidFill>
                            <a:schemeClr val="dk1"/>
                          </a:solidFill>
                          <a:latin typeface="Calibri"/>
                          <a:ea typeface="Calibri"/>
                          <a:cs typeface="Calibri"/>
                          <a:sym typeface="Calibri"/>
                        </a:rPr>
                        <a:t>SHAP</a:t>
                      </a:r>
                      <a:r>
                        <a:rPr lang="es-ES" sz="1400" dirty="0">
                          <a:solidFill>
                            <a:schemeClr val="dk1"/>
                          </a:solidFill>
                          <a:latin typeface="Calibri"/>
                          <a:ea typeface="Calibri"/>
                          <a:cs typeface="Calibri"/>
                          <a:sym typeface="Calibri"/>
                        </a:rPr>
                        <a:t>. </a:t>
                      </a:r>
                      <a:r>
                        <a:rPr lang="es-ES" sz="1400" b="0" dirty="0">
                          <a:solidFill>
                            <a:schemeClr val="dk1"/>
                          </a:solidFill>
                          <a:latin typeface="Calibri"/>
                          <a:ea typeface="Calibri"/>
                          <a:cs typeface="Calibri"/>
                          <a:sym typeface="Calibri"/>
                        </a:rPr>
                        <a:t>Con esto, nos p</a:t>
                      </a:r>
                      <a:r>
                        <a:rPr lang="es-ES" sz="1400" dirty="0">
                          <a:solidFill>
                            <a:schemeClr val="dk1"/>
                          </a:solidFill>
                          <a:latin typeface="Calibri"/>
                          <a:ea typeface="Calibri"/>
                          <a:cs typeface="Calibri"/>
                          <a:sym typeface="Calibri"/>
                        </a:rPr>
                        <a:t>ermitirá al grupo evaluar si el modelo está sobreestimando el riesgo de pánico y si las razones entregadas por el algoritmo resultan verdaderamente comprensibles e intuitivas para un inversionista principiante.</a:t>
                      </a:r>
                    </a:p>
                    <a:p>
                      <a:pPr marL="342900" marR="0" lvl="0" indent="-342900" algn="l" defTabSz="914400" rtl="0" eaLnBrk="1" fontAlgn="auto" latinLnBrk="0" hangingPunct="1">
                        <a:lnSpc>
                          <a:spcPct val="100000"/>
                        </a:lnSpc>
                        <a:spcBef>
                          <a:spcPts val="0"/>
                        </a:spcBef>
                        <a:spcAft>
                          <a:spcPts val="0"/>
                        </a:spcAft>
                        <a:buClr>
                          <a:schemeClr val="dk1"/>
                        </a:buClr>
                        <a:buSzPts val="1800"/>
                        <a:buFont typeface="Calibri"/>
                        <a:buAutoNum type="arabicPeriod"/>
                        <a:tabLst/>
                        <a:defRPr/>
                      </a:pPr>
                      <a:r>
                        <a:rPr lang="es-ES" sz="1400" dirty="0"/>
                        <a:t>A partir de las simulaciones y revisiones previas, realizaremos pruebas de cumplimiento regulatorio y ético sobre las frases, alertas y explicaciones que podría generar </a:t>
                      </a:r>
                      <a:r>
                        <a:rPr lang="es-ES" sz="1400" dirty="0" err="1"/>
                        <a:t>BolsaLAB</a:t>
                      </a:r>
                      <a:r>
                        <a:rPr lang="es-ES" sz="1400" dirty="0"/>
                        <a:t>. Buscaremos identificar si estas pueden interpretarse como asesoría financiera personalizada o como una actividad regulada. Para ello, tomaremos como referencia el Decreto 661 de 2018 y la normativa aplicable, sin asumir que estas pruebas certifican el cumplimiento normativo.</a:t>
                      </a:r>
                    </a:p>
                    <a:p>
                      <a:pPr marL="0" indent="0">
                        <a:spcBef>
                          <a:spcPts val="600"/>
                        </a:spcBef>
                        <a:buNone/>
                      </a:pPr>
                      <a:r>
                        <a:rPr lang="es-CO" sz="800" b="1" dirty="0"/>
                        <a:t>Fuente:</a:t>
                      </a:r>
                    </a:p>
                    <a:p>
                      <a:pPr marL="0" indent="0">
                        <a:buNone/>
                      </a:pPr>
                      <a:r>
                        <a:rPr lang="es-CO" sz="800" b="0" dirty="0"/>
                        <a:t>Decreto 661 de 2018. Modifica el Decreto 2555 de 2010 en lo relativo a la actividad de asesoría en el mercado de valores. 17 de abril de 2018. Diario Oficial 50.567.</a:t>
                      </a:r>
                    </a:p>
                  </a:txBody>
                  <a:tcPr marL="91450" marR="91450" marT="45725" marB="45725">
                    <a:solidFill>
                      <a:srgbClr val="E7FAFF"/>
                    </a:solidFill>
                  </a:tcPr>
                </a:tc>
                <a:extLst>
                  <a:ext uri="{0D108BD9-81ED-4DB2-BD59-A6C34878D82A}">
                    <a16:rowId xmlns:a16="http://schemas.microsoft.com/office/drawing/2014/main" val="10001"/>
                  </a:ext>
                </a:extLst>
              </a:tr>
            </a:tbl>
          </a:graphicData>
        </a:graphic>
      </p:graphicFrame>
      <p:sp>
        <p:nvSpPr>
          <p:cNvPr id="165" name="Google Shape;165;p7"/>
          <p:cNvSpPr txBox="1"/>
          <p:nvPr/>
        </p:nvSpPr>
        <p:spPr>
          <a:xfrm>
            <a:off x="527539" y="332292"/>
            <a:ext cx="63518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200" b="1">
                <a:solidFill>
                  <a:srgbClr val="00D2F0"/>
                </a:solidFill>
                <a:latin typeface="Calibri"/>
                <a:ea typeface="Calibri"/>
                <a:cs typeface="Calibri"/>
                <a:sym typeface="Calibri"/>
              </a:rPr>
              <a:t>Sprint Retrospective - </a:t>
            </a:r>
            <a:r>
              <a:rPr lang="es-CO" sz="3200" b="1">
                <a:solidFill>
                  <a:schemeClr val="lt1"/>
                </a:solidFill>
                <a:latin typeface="Calibri"/>
                <a:ea typeface="Calibri"/>
                <a:cs typeface="Calibri"/>
                <a:sym typeface="Calibri"/>
              </a:rPr>
              <a:t>Ciclo 2</a:t>
            </a:r>
            <a:endParaRPr sz="1800" b="1">
              <a:solidFill>
                <a:schemeClr val="lt1"/>
              </a:solidFill>
              <a:latin typeface="Calibri"/>
              <a:ea typeface="Calibri"/>
              <a:cs typeface="Calibri"/>
              <a:sym typeface="Calibri"/>
            </a:endParaRPr>
          </a:p>
        </p:txBody>
      </p:sp>
      <p:sp>
        <p:nvSpPr>
          <p:cNvPr id="166" name="Google Shape;166;p7"/>
          <p:cNvSpPr txBox="1"/>
          <p:nvPr/>
        </p:nvSpPr>
        <p:spPr>
          <a:xfrm>
            <a:off x="527539" y="1440469"/>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200" b="1">
                <a:solidFill>
                  <a:srgbClr val="089ECE"/>
                </a:solidFill>
                <a:latin typeface="Calibri"/>
                <a:ea typeface="Calibri"/>
                <a:cs typeface="Calibri"/>
                <a:sym typeface="Calibri"/>
              </a:rPr>
              <a:t>Fase 5 Cierre retrospectiva</a:t>
            </a:r>
            <a:endParaRPr sz="2200" b="1">
              <a:solidFill>
                <a:srgbClr val="089EC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2113</Words>
  <Application>Microsoft Office PowerPoint</Application>
  <PresentationFormat>Widescreen</PresentationFormat>
  <Paragraphs>117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wilperiodista86@gmail.com</dc:creator>
  <cp:lastModifiedBy>Juan Ayala</cp:lastModifiedBy>
  <cp:revision>1</cp:revision>
  <dcterms:created xsi:type="dcterms:W3CDTF">2017-03-01T15:55:36Z</dcterms:created>
  <dcterms:modified xsi:type="dcterms:W3CDTF">2026-10-20T02:28:16Z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0x010100EBC61FAB0642FE408167ABE9ACA42F1D</vt:lpwstr>
  </property>
  <property fmtid="{D5CDD505-2E9C-101B-9397-08002B2CF9AE}" pid="3" name="MediaServiceImageTags">
    <vt:lpwstr/>
  </property>
</Properties>
</file>