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403" r:id="rId5"/>
    <p:sldId id="427" r:id="rId6"/>
    <p:sldId id="434" r:id="rId7"/>
    <p:sldId id="435" r:id="rId8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F0"/>
    <a:srgbClr val="089ECE"/>
    <a:srgbClr val="AFF3FF"/>
    <a:srgbClr val="00FFFF"/>
    <a:srgbClr val="CC99FF"/>
    <a:srgbClr val="FFE2FE"/>
    <a:srgbClr val="FFCCFF"/>
    <a:srgbClr val="FFFF99"/>
    <a:srgbClr val="FF99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465507-429D-DEBE-2256-9FFA3DB6D75A}" v="3" dt="2024-10-23T21:29:47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8"/>
    <p:restoredTop sz="94274" autoAdjust="0"/>
  </p:normalViewPr>
  <p:slideViewPr>
    <p:cSldViewPr snapToGrid="0" snapToObjects="1">
      <p:cViewPr varScale="1">
        <p:scale>
          <a:sx n="123" d="100"/>
          <a:sy n="123" d="100"/>
        </p:scale>
        <p:origin x="44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E539C-DDF3-AC46-8B9D-2E762AE448C0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Instrucciones: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800" kern="0" dirty="0">
              <a:solidFill>
                <a:srgbClr val="215F9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Rellenar los espacios con los datos correspondientes al grupo e integrantes.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CO" sz="1800" kern="0" dirty="0">
              <a:solidFill>
                <a:srgbClr val="215F9A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800" kern="0" dirty="0">
                <a:solidFill>
                  <a:srgbClr val="215F9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 algún miembro del grupo no generó aportes significativos, no debería ser incluido en la lista de integrantes.</a:t>
            </a:r>
            <a:endParaRPr lang="es-CO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26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Instrucciones: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Por favor no extenderse demasiado en los textos escritos. </a:t>
            </a:r>
            <a:endParaRPr lang="es-MX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467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Instrucciones:</a:t>
            </a:r>
          </a:p>
          <a:p>
            <a:endParaRPr lang="es-MX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Utilice los post-</a:t>
            </a:r>
            <a:r>
              <a:rPr lang="es-CO" dirty="0" err="1"/>
              <a:t>its</a:t>
            </a:r>
            <a:r>
              <a:rPr lang="es-CO" dirty="0"/>
              <a:t> para identificar las posibles soluciones en IA. Cada color identifica a un miembro del equipo.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8527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Instrucciones:</a:t>
            </a:r>
          </a:p>
          <a:p>
            <a:endParaRPr lang="es-MX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Por favor no extenderse demasiado en los textos escritos. </a:t>
            </a:r>
            <a:endParaRPr lang="es-MX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37013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7/11/24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ECEED3DA-26D1-177C-671A-3776B1D46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867917" y="4837441"/>
            <a:ext cx="8456166" cy="15633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b="1" dirty="0">
                <a:solidFill>
                  <a:srgbClr val="AFF3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Integrantes:</a:t>
            </a:r>
          </a:p>
          <a:p>
            <a:r>
              <a:rPr lang="es-ES_tradnl" sz="1500" dirty="0">
                <a:solidFill>
                  <a:srgbClr val="AFF3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Jenny Paola Castellanos</a:t>
            </a:r>
          </a:p>
          <a:p>
            <a:r>
              <a:rPr lang="es-ES_tradnl" sz="1500" dirty="0">
                <a:solidFill>
                  <a:srgbClr val="AFF3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Luis Guillermo Yépez</a:t>
            </a:r>
          </a:p>
          <a:p>
            <a:r>
              <a:rPr lang="es-ES_tradnl" sz="1500" dirty="0">
                <a:solidFill>
                  <a:srgbClr val="AFF3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Dilan Vega</a:t>
            </a:r>
          </a:p>
          <a:p>
            <a:r>
              <a:rPr lang="es-ES_tradnl" sz="1500" dirty="0">
                <a:solidFill>
                  <a:srgbClr val="AFF3FF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Juan Gilberto Ayala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7D7136B-41F9-9BF2-9491-0E28A797FD31}"/>
              </a:ext>
            </a:extLst>
          </p:cNvPr>
          <p:cNvSpPr txBox="1">
            <a:spLocks/>
          </p:cNvSpPr>
          <p:nvPr/>
        </p:nvSpPr>
        <p:spPr>
          <a:xfrm>
            <a:off x="1867917" y="1463469"/>
            <a:ext cx="8456166" cy="2605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54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Ciclo 1- </a:t>
            </a:r>
            <a:r>
              <a:rPr lang="es-ES_tradnl" sz="54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Sprint 2</a:t>
            </a:r>
          </a:p>
          <a:p>
            <a:pPr algn="ctr"/>
            <a:r>
              <a:rPr lang="es-ES_tradnl" sz="54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Data </a:t>
            </a:r>
            <a:r>
              <a:rPr lang="es-ES_tradnl" sz="5400" b="1" dirty="0" err="1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Understanding</a:t>
            </a:r>
            <a:endParaRPr lang="es-ES_tradnl" sz="5400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r>
              <a:rPr lang="es-ES_tradnl" sz="36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Mapa de Afinidad</a:t>
            </a:r>
          </a:p>
          <a:p>
            <a:r>
              <a:rPr lang="es-ES_tradnl" sz="28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Grupo 10</a:t>
            </a:r>
          </a:p>
        </p:txBody>
      </p:sp>
    </p:spTree>
    <p:extLst>
      <p:ext uri="{BB962C8B-B14F-4D97-AF65-F5344CB8AC3E}">
        <p14:creationId xmlns:p14="http://schemas.microsoft.com/office/powerpoint/2010/main" val="122382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A5AAD28F-847E-0B6F-EC63-A69778F5E985}"/>
              </a:ext>
            </a:extLst>
          </p:cNvPr>
          <p:cNvGrpSpPr/>
          <p:nvPr/>
        </p:nvGrpSpPr>
        <p:grpSpPr>
          <a:xfrm>
            <a:off x="0" y="11185"/>
            <a:ext cx="12192000" cy="1238221"/>
            <a:chOff x="0" y="0"/>
            <a:chExt cx="12192000" cy="1238221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DAA00169-F993-65E4-EAF2-4E0DD52F4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237605"/>
            </a:xfrm>
            <a:prstGeom prst="rect">
              <a:avLst/>
            </a:prstGeom>
          </p:spPr>
        </p:pic>
        <p:pic>
          <p:nvPicPr>
            <p:cNvPr id="24" name="Imagen 23" descr="Patrón de fondo&#10;&#10;Descripción generada automáticamente">
              <a:extLst>
                <a:ext uri="{FF2B5EF4-FFF2-40B4-BE49-F238E27FC236}">
                  <a16:creationId xmlns:a16="http://schemas.microsoft.com/office/drawing/2014/main" id="{0B4574FA-1011-195B-03CE-01A58BF7A2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500" b="22593" l="69531" r="97604">
                          <a14:foregroundMark x1="71302" y1="13704" x2="71302" y2="13704"/>
                          <a14:foregroundMark x1="71042" y1="14722" x2="71302" y2="12685"/>
                          <a14:foregroundMark x1="82760" y1="15278" x2="94740" y2="13981"/>
                          <a14:foregroundMark x1="94740" y1="13981" x2="96354" y2="13981"/>
                          <a14:foregroundMark x1="83438" y1="10648" x2="90938" y2="11111"/>
                          <a14:foregroundMark x1="90938" y1="11111" x2="96667" y2="10278"/>
                          <a14:foregroundMark x1="96667" y1="10278" x2="95052" y2="10463"/>
                          <a14:foregroundMark x1="86615" y1="18796" x2="92396" y2="19259"/>
                          <a14:foregroundMark x1="92396" y1="19259" x2="87188" y2="18333"/>
                          <a14:foregroundMark x1="81875" y1="12222" x2="86771" y2="16944"/>
                          <a14:foregroundMark x1="86771" y1="16944" x2="93021" y2="16574"/>
                          <a14:foregroundMark x1="93021" y1="16574" x2="88333" y2="10463"/>
                          <a14:foregroundMark x1="88333" y1="10463" x2="82708" y2="11019"/>
                          <a14:foregroundMark x1="82708" y1="11019" x2="82760" y2="11204"/>
                          <a14:foregroundMark x1="96042" y1="11667" x2="93177" y2="16296"/>
                          <a14:foregroundMark x1="97344" y1="17037" x2="93438" y2="8889"/>
                          <a14:foregroundMark x1="93438" y1="8889" x2="83177" y2="10463"/>
                          <a14:foregroundMark x1="75313" y1="5648" x2="75469" y2="4074"/>
                          <a14:foregroundMark x1="75156" y1="6667" x2="76458" y2="3611"/>
                          <a14:foregroundMark x1="74323" y1="6111" x2="69583" y2="12685"/>
                          <a14:foregroundMark x1="69583" y1="12685" x2="72448" y2="7130"/>
                          <a14:foregroundMark x1="82448" y1="16759" x2="88125" y2="17778"/>
                          <a14:foregroundMark x1="88125" y1="17778" x2="83438" y2="17315"/>
                          <a14:foregroundMark x1="90885" y1="18796" x2="96406" y2="17778"/>
                          <a14:foregroundMark x1="96406" y1="17778" x2="92656" y2="10463"/>
                          <a14:foregroundMark x1="92656" y1="10463" x2="79896" y2="11204"/>
                          <a14:foregroundMark x1="79896" y1="11204" x2="79740" y2="10926"/>
                          <a14:foregroundMark x1="92760" y1="9444" x2="97604" y2="14259"/>
                          <a14:foregroundMark x1="97604" y1="14259" x2="97604" y2="14722"/>
                          <a14:foregroundMark x1="97188" y1="12685" x2="97031" y2="1731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24" b="74763"/>
            <a:stretch/>
          </p:blipFill>
          <p:spPr>
            <a:xfrm>
              <a:off x="9541293" y="11553"/>
              <a:ext cx="2650705" cy="1226668"/>
            </a:xfrm>
            <a:prstGeom prst="rect">
              <a:avLst/>
            </a:prstGeom>
          </p:spPr>
        </p:pic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56F28EB7-7523-78DC-277A-6ADEBA09A7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4983"/>
            <a:ext cx="12192000" cy="9515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DED975-AAA7-C430-7A86-62C7D2AF7F0E}"/>
              </a:ext>
            </a:extLst>
          </p:cNvPr>
          <p:cNvSpPr txBox="1"/>
          <p:nvPr/>
        </p:nvSpPr>
        <p:spPr>
          <a:xfrm>
            <a:off x="593853" y="107908"/>
            <a:ext cx="6351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Ciclo 1- </a:t>
            </a:r>
            <a:r>
              <a:rPr lang="es-ES_tradnl" sz="32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Sprint 2</a:t>
            </a:r>
            <a:endParaRPr lang="es-ES_tradnl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r>
              <a:rPr lang="es-ES_tradnl" sz="30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Data </a:t>
            </a:r>
            <a:r>
              <a:rPr lang="es-ES_tradnl" sz="3000" b="1" dirty="0" err="1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Understanding</a:t>
            </a:r>
            <a:endParaRPr lang="es-ES_tradnl" sz="3000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63251A-9045-1536-FAC2-27908AF5690E}"/>
              </a:ext>
            </a:extLst>
          </p:cNvPr>
          <p:cNvSpPr txBox="1"/>
          <p:nvPr/>
        </p:nvSpPr>
        <p:spPr>
          <a:xfrm>
            <a:off x="2831103" y="1340489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b="1" kern="1200" dirty="0">
                <a:solidFill>
                  <a:srgbClr val="00D2F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Mapa de </a:t>
            </a:r>
            <a:r>
              <a:rPr lang="es-CO" sz="2400" b="1" dirty="0">
                <a:solidFill>
                  <a:srgbClr val="00D2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afinidad</a:t>
            </a:r>
            <a:endParaRPr lang="es-CO" sz="2400" b="1" kern="1200" dirty="0">
              <a:solidFill>
                <a:srgbClr val="00D2F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E09164-D0EE-664B-C13D-279346AC3C46}"/>
              </a:ext>
            </a:extLst>
          </p:cNvPr>
          <p:cNvSpPr txBox="1"/>
          <p:nvPr/>
        </p:nvSpPr>
        <p:spPr>
          <a:xfrm>
            <a:off x="3995663" y="1869142"/>
            <a:ext cx="708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¿</a:t>
            </a:r>
            <a:r>
              <a:rPr lang="es-CO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Cuál</a:t>
            </a:r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es la necesidad o problema que se presenta en el negocio?</a:t>
            </a:r>
            <a:endParaRPr lang="es-ES_trad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ECB250-4E02-5195-4438-212198B3F378}"/>
              </a:ext>
            </a:extLst>
          </p:cNvPr>
          <p:cNvSpPr txBox="1"/>
          <p:nvPr/>
        </p:nvSpPr>
        <p:spPr>
          <a:xfrm>
            <a:off x="313465" y="1870394"/>
            <a:ext cx="3984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1" dirty="0">
                <a:solidFill>
                  <a:srgbClr val="089EC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Validen las necesidades del negocio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35F973F-9239-83E5-01E4-CA9881C2EA1C}"/>
              </a:ext>
            </a:extLst>
          </p:cNvPr>
          <p:cNvSpPr txBox="1"/>
          <p:nvPr/>
        </p:nvSpPr>
        <p:spPr>
          <a:xfrm>
            <a:off x="321704" y="2340076"/>
            <a:ext cx="11548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Escriba cada una de </a:t>
            </a:r>
            <a:r>
              <a:rPr lang="es-CO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necesidades del negoci</a:t>
            </a:r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en un post -</a:t>
            </a:r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; utilizando </a:t>
            </a:r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post-its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 del mismo color para anotar las necesidades de categorías similares. Agrúpelos por colores.</a:t>
            </a:r>
            <a:endParaRPr lang="es-ES_trad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3850" y="3067050"/>
            <a:ext cx="2209800" cy="2095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100">
                <a:solidFill>
                  <a:srgbClr val="1F3A5F"/>
                </a:solidFill>
              </a:rPr>
              <a:t>A. Entender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850" y="3314700"/>
            <a:ext cx="2209800" cy="76200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El vocabulario financiero no se entiende y genera desconfianza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850" y="4152900"/>
            <a:ext cx="2209800" cy="76200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Ver las cifras en pesos antes que en porcentajes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850" y="4991100"/>
            <a:ext cx="2209800" cy="76200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Tener la definición de cada término a la mano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3850" y="5829300"/>
            <a:ext cx="2209800" cy="76200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Recibir la explicación de cada decisión en lenguaje simple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7000" y="3067050"/>
            <a:ext cx="2209800" cy="2095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100">
                <a:solidFill>
                  <a:srgbClr val="1F3A5F"/>
                </a:solidFill>
              </a:rPr>
              <a:t>B. Dimensionar el riesgo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67000" y="3314700"/>
            <a:ext cx="2209800" cy="762000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El usuario no dimensiona el riesgo hasta que ya perdió dinero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67000" y="4152900"/>
            <a:ext cx="2209800" cy="762000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Ver primero la pérdida máxima posible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67000" y="4991100"/>
            <a:ext cx="2209800" cy="762000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Vivir una caída simulada antes de invertir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67000" y="5829300"/>
            <a:ext cx="2209800" cy="762000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Comparar lo que dice que haría con lo que hace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150" y="3067050"/>
            <a:ext cx="2209800" cy="2095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100">
                <a:solidFill>
                  <a:srgbClr val="1F3A5F"/>
                </a:solidFill>
              </a:rPr>
              <a:t>C. Perfil y portafolio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10150" y="3314700"/>
            <a:ext cx="2209800" cy="762000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Recibir un perfil de riesgo coherente y explicable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0150" y="4152900"/>
            <a:ext cx="2209800" cy="762000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Que el perfil no subestime el riesgo real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0150" y="4991100"/>
            <a:ext cx="2209800" cy="762000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Portafolio sugerido por clases de activo según el perfil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10150" y="5829300"/>
            <a:ext cx="2209800" cy="762000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Perfil pensado para población colombiana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53300" y="3067050"/>
            <a:ext cx="2209800" cy="2095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100">
                <a:solidFill>
                  <a:srgbClr val="1F3A5F"/>
                </a:solidFill>
              </a:rPr>
              <a:t>D. Confianza y regulación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3300" y="3314700"/>
            <a:ext cx="2209800" cy="762000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Respuestas basadas en fuentes regulatorias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3300" y="4152900"/>
            <a:ext cx="2209800" cy="762000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Nunca recibir recomendación de activos específicos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53300" y="4991100"/>
            <a:ext cx="2209800" cy="762000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Saber de dónde sale cada cifra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53300" y="5829300"/>
            <a:ext cx="2209800" cy="762000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Ser remitido a una firma vigilada cuando corresponde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6450" y="3067050"/>
            <a:ext cx="2209800" cy="2095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100">
                <a:solidFill>
                  <a:srgbClr val="1F3A5F"/>
                </a:solidFill>
              </a:rPr>
              <a:t>E. Modelo de 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6450" y="3314700"/>
            <a:ext cx="2209800" cy="762000"/>
          </a:xfrm>
          <a:prstGeom prst="rect">
            <a:avLst/>
          </a:prstGeom>
          <a:solidFill>
            <a:srgbClr val="E2CF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Modelo entrenado por el equipo, no tomado de una librería sin ajuste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6450" y="4152900"/>
            <a:ext cx="2209800" cy="762000"/>
          </a:xfrm>
          <a:prstGeom prst="rect">
            <a:avLst/>
          </a:prstGeom>
          <a:solidFill>
            <a:srgbClr val="E2CF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Comparar varios algoritmos con métricas explícitas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6450" y="4991100"/>
            <a:ext cx="2209800" cy="762000"/>
          </a:xfrm>
          <a:prstGeom prst="rect">
            <a:avLst/>
          </a:prstGeom>
          <a:solidFill>
            <a:srgbClr val="E2CF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Validar sin fuga de datos entre hogares ni en el tiempo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6450" y="5829300"/>
            <a:ext cx="2209800" cy="762000"/>
          </a:xfrm>
          <a:prstGeom prst="rect">
            <a:avLst/>
          </a:prstGeom>
          <a:solidFill>
            <a:srgbClr val="E2CF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Tener una línea base simple contra la cual comparar</a:t>
            </a:r>
          </a:p>
        </p:txBody>
      </p:sp>
    </p:spTree>
    <p:extLst>
      <p:ext uri="{BB962C8B-B14F-4D97-AF65-F5344CB8AC3E}">
        <p14:creationId xmlns:p14="http://schemas.microsoft.com/office/powerpoint/2010/main" val="275848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BD6E5AE-0CF6-32F9-005D-EE2720708222}"/>
              </a:ext>
            </a:extLst>
          </p:cNvPr>
          <p:cNvGrpSpPr/>
          <p:nvPr/>
        </p:nvGrpSpPr>
        <p:grpSpPr>
          <a:xfrm>
            <a:off x="0" y="0"/>
            <a:ext cx="12192000" cy="1238221"/>
            <a:chOff x="0" y="0"/>
            <a:chExt cx="12192000" cy="1238221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E58C3CD-E44D-A52E-47E4-A0C9940BD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237605"/>
            </a:xfrm>
            <a:prstGeom prst="rect">
              <a:avLst/>
            </a:prstGeom>
          </p:spPr>
        </p:pic>
        <p:pic>
          <p:nvPicPr>
            <p:cNvPr id="12" name="Imagen 11" descr="Patrón de fondo&#10;&#10;Descripción generada automáticamente">
              <a:extLst>
                <a:ext uri="{FF2B5EF4-FFF2-40B4-BE49-F238E27FC236}">
                  <a16:creationId xmlns:a16="http://schemas.microsoft.com/office/drawing/2014/main" id="{6185187B-4FB0-5036-7336-44DEBFFDA1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500" b="22593" l="69531" r="97604">
                          <a14:foregroundMark x1="71302" y1="13704" x2="71302" y2="13704"/>
                          <a14:foregroundMark x1="71042" y1="14722" x2="71302" y2="12685"/>
                          <a14:foregroundMark x1="82760" y1="15278" x2="94740" y2="13981"/>
                          <a14:foregroundMark x1="94740" y1="13981" x2="96354" y2="13981"/>
                          <a14:foregroundMark x1="83438" y1="10648" x2="90938" y2="11111"/>
                          <a14:foregroundMark x1="90938" y1="11111" x2="96667" y2="10278"/>
                          <a14:foregroundMark x1="96667" y1="10278" x2="95052" y2="10463"/>
                          <a14:foregroundMark x1="86615" y1="18796" x2="92396" y2="19259"/>
                          <a14:foregroundMark x1="92396" y1="19259" x2="87188" y2="18333"/>
                          <a14:foregroundMark x1="81875" y1="12222" x2="86771" y2="16944"/>
                          <a14:foregroundMark x1="86771" y1="16944" x2="93021" y2="16574"/>
                          <a14:foregroundMark x1="93021" y1="16574" x2="88333" y2="10463"/>
                          <a14:foregroundMark x1="88333" y1="10463" x2="82708" y2="11019"/>
                          <a14:foregroundMark x1="82708" y1="11019" x2="82760" y2="11204"/>
                          <a14:foregroundMark x1="96042" y1="11667" x2="93177" y2="16296"/>
                          <a14:foregroundMark x1="97344" y1="17037" x2="93438" y2="8889"/>
                          <a14:foregroundMark x1="93438" y1="8889" x2="83177" y2="10463"/>
                          <a14:foregroundMark x1="75313" y1="5648" x2="75469" y2="4074"/>
                          <a14:foregroundMark x1="75156" y1="6667" x2="76458" y2="3611"/>
                          <a14:foregroundMark x1="74323" y1="6111" x2="69583" y2="12685"/>
                          <a14:foregroundMark x1="69583" y1="12685" x2="72448" y2="7130"/>
                          <a14:foregroundMark x1="82448" y1="16759" x2="88125" y2="17778"/>
                          <a14:foregroundMark x1="88125" y1="17778" x2="83438" y2="17315"/>
                          <a14:foregroundMark x1="90885" y1="18796" x2="96406" y2="17778"/>
                          <a14:foregroundMark x1="96406" y1="17778" x2="92656" y2="10463"/>
                          <a14:foregroundMark x1="92656" y1="10463" x2="79896" y2="11204"/>
                          <a14:foregroundMark x1="79896" y1="11204" x2="79740" y2="10926"/>
                          <a14:foregroundMark x1="92760" y1="9444" x2="97604" y2="14259"/>
                          <a14:foregroundMark x1="97604" y1="14259" x2="97604" y2="14722"/>
                          <a14:foregroundMark x1="97188" y1="12685" x2="97031" y2="1731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24" b="74763"/>
            <a:stretch/>
          </p:blipFill>
          <p:spPr>
            <a:xfrm>
              <a:off x="9541293" y="11553"/>
              <a:ext cx="2650705" cy="1226668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E5B7829-FA80-1FF5-7BBC-B6F8873B61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4983"/>
            <a:ext cx="12192000" cy="9515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DED975-AAA7-C430-7A86-62C7D2AF7F0E}"/>
              </a:ext>
            </a:extLst>
          </p:cNvPr>
          <p:cNvSpPr txBox="1"/>
          <p:nvPr/>
        </p:nvSpPr>
        <p:spPr>
          <a:xfrm>
            <a:off x="643075" y="98143"/>
            <a:ext cx="6351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Ciclo 1- </a:t>
            </a:r>
            <a:r>
              <a:rPr lang="es-ES_tradnl" sz="32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Sprint 2</a:t>
            </a:r>
            <a:endParaRPr lang="es-ES_tradnl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r>
              <a:rPr lang="es-ES_tradnl" sz="30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Data </a:t>
            </a:r>
            <a:r>
              <a:rPr lang="es-ES_tradnl" sz="3000" b="1" dirty="0" err="1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Understanding</a:t>
            </a:r>
            <a:endParaRPr lang="es-ES_tradnl" sz="3000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63251A-9045-1536-FAC2-27908AF5690E}"/>
              </a:ext>
            </a:extLst>
          </p:cNvPr>
          <p:cNvSpPr txBox="1"/>
          <p:nvPr/>
        </p:nvSpPr>
        <p:spPr>
          <a:xfrm>
            <a:off x="3046971" y="1270765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b="1" kern="1200" dirty="0">
                <a:solidFill>
                  <a:srgbClr val="00D2F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Mapa de </a:t>
            </a:r>
            <a:r>
              <a:rPr lang="es-CO" sz="2400" b="1" dirty="0">
                <a:solidFill>
                  <a:srgbClr val="00D2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afinidad</a:t>
            </a:r>
            <a:endParaRPr lang="es-CO" sz="2400" b="1" kern="1200" dirty="0">
              <a:solidFill>
                <a:srgbClr val="00D2F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E552260-9B68-72AD-C499-A797831E1467}"/>
              </a:ext>
            </a:extLst>
          </p:cNvPr>
          <p:cNvSpPr txBox="1"/>
          <p:nvPr/>
        </p:nvSpPr>
        <p:spPr>
          <a:xfrm>
            <a:off x="361473" y="1641774"/>
            <a:ext cx="2533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1" dirty="0">
                <a:solidFill>
                  <a:srgbClr val="089EC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Identifiquen los datos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4150517-9A02-FF77-9639-65EE3C806B21}"/>
              </a:ext>
            </a:extLst>
          </p:cNvPr>
          <p:cNvSpPr txBox="1"/>
          <p:nvPr/>
        </p:nvSpPr>
        <p:spPr>
          <a:xfrm>
            <a:off x="2810479" y="1647659"/>
            <a:ext cx="713165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¿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Cuáles</a:t>
            </a:r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son los datos requeridos para resolver el problema?</a:t>
            </a:r>
            <a:endParaRPr lang="es-ES_trad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02A0A33-81EC-37ED-BBA0-11061BA18CF4}"/>
              </a:ext>
            </a:extLst>
          </p:cNvPr>
          <p:cNvSpPr txBox="1"/>
          <p:nvPr/>
        </p:nvSpPr>
        <p:spPr>
          <a:xfrm>
            <a:off x="364821" y="1988221"/>
            <a:ext cx="11462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Escriba cada una de las catego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rías de </a:t>
            </a:r>
            <a:r>
              <a:rPr lang="es-CO" b="1" dirty="0">
                <a:latin typeface="Calibri" panose="020F0502020204030204" pitchFamily="34" charset="0"/>
                <a:cs typeface="Calibri" panose="020F0502020204030204" pitchFamily="34" charset="0"/>
              </a:rPr>
              <a:t>datos identificados 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en un </a:t>
            </a:r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post-it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; utilizando </a:t>
            </a:r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post-its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 del mismo color para anotar las categorías similares. Agrúpelos por colores.</a:t>
            </a:r>
            <a:endParaRPr lang="es-ES_trad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5750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1. Hogares y personas (IEFIC, DANE)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750" y="3028950"/>
            <a:ext cx="1876425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Edad, sexo, ciudad, educación y tamaño del hogar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750" y="3752850"/>
            <a:ext cx="1876425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Ingreso mensual por persona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5750" y="4476750"/>
            <a:ext cx="1876425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Tenencia y monto de acciones, fondos, derivados, CDT y ahorro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750" y="5200650"/>
            <a:ext cx="1876425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10 preguntas de conocimiento financiero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750" y="5924550"/>
            <a:ext cx="1876425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Hábitos: gasta todo el ingreso, destina excedente a invertir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8375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2. Mercado (Yahoo Finance)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38375" y="3028950"/>
            <a:ext cx="1876425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Precios diarios del ETF del COLCAP (ICOLCAP), desde 2013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38375" y="3752850"/>
            <a:ext cx="1876425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Precios diarios del S&amp;P 500 (SPY)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38375" y="4476750"/>
            <a:ext cx="1876425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Precios diarios de 5 acciones de la BVC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38375" y="5200650"/>
            <a:ext cx="1876425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Dividendos y splits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0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3. Macro Colombia (Banco de la República)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0" y="3028950"/>
            <a:ext cx="1876425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TRM diaria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91000" y="3752850"/>
            <a:ext cx="1876425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TES a 1, 5 y 10 años (mensual)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1000" y="4476750"/>
            <a:ext cx="1876425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IBR y tasa de política monetaria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91000" y="5200650"/>
            <a:ext cx="1876425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COLCAP mensual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3625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4. Riesgo global (FRED)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3625" y="3028950"/>
            <a:ext cx="1876425" cy="666750"/>
          </a:xfrm>
          <a:prstGeom prst="rect">
            <a:avLst/>
          </a:prstGeom>
          <a:solidFill>
            <a:srgbClr val="F9C6E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VIX y VIX de mercados emergentes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43625" y="3752850"/>
            <a:ext cx="1876425" cy="666750"/>
          </a:xfrm>
          <a:prstGeom prst="rect">
            <a:avLst/>
          </a:prstGeom>
          <a:solidFill>
            <a:srgbClr val="F9C6E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Índice de estrés financiero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3625" y="4476750"/>
            <a:ext cx="1876425" cy="666750"/>
          </a:xfrm>
          <a:prstGeom prst="rect">
            <a:avLst/>
          </a:prstGeom>
          <a:solidFill>
            <a:srgbClr val="F9C6E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Bono de EE. UU. a 10 años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3625" y="5200650"/>
            <a:ext cx="1876425" cy="666750"/>
          </a:xfrm>
          <a:prstGeom prst="rect">
            <a:avLst/>
          </a:prstGeom>
          <a:solidFill>
            <a:srgbClr val="F9C6E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Petróleo Brent y dólar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6250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5. Usuarios de BolsaLAB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6250" y="3028950"/>
            <a:ext cx="1876425" cy="66675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20 respuestas del testeo de la fase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6250" y="3752850"/>
            <a:ext cx="1876425" cy="66675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Citas y hallazgos de las dos rondas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6250" y="4476750"/>
            <a:ext cx="1876425" cy="66675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Cuestionario de perfil del prototipo (5 preguntas)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48875" y="2667000"/>
            <a:ext cx="1876425" cy="3238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950">
                <a:solidFill>
                  <a:srgbClr val="1F3A5F"/>
                </a:solidFill>
              </a:rPr>
              <a:t>6. Texto regulatorio y educativo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8875" y="3028950"/>
            <a:ext cx="1876425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Decreto 661 de 2018 (asesoría)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8875" y="3752850"/>
            <a:ext cx="1876425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Circular Básica Jurídica de la SFC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48875" y="4476750"/>
            <a:ext cx="1876425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Material educativo de la SFC y AMV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48875" y="5200650"/>
            <a:ext cx="1876425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Lista de entidades vigiladas</a:t>
            </a:r>
          </a:p>
        </p:txBody>
      </p:sp>
    </p:spTree>
    <p:extLst>
      <p:ext uri="{BB962C8B-B14F-4D97-AF65-F5344CB8AC3E}">
        <p14:creationId xmlns:p14="http://schemas.microsoft.com/office/powerpoint/2010/main" val="39454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A56A731C-74A5-DC58-0F26-8377ACB90456}"/>
              </a:ext>
            </a:extLst>
          </p:cNvPr>
          <p:cNvGrpSpPr/>
          <p:nvPr/>
        </p:nvGrpSpPr>
        <p:grpSpPr>
          <a:xfrm>
            <a:off x="0" y="0"/>
            <a:ext cx="12192000" cy="1238221"/>
            <a:chOff x="0" y="0"/>
            <a:chExt cx="12192000" cy="1238221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FFB0B0B-A8BB-CA77-172B-0A8D332B1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237605"/>
            </a:xfrm>
            <a:prstGeom prst="rect">
              <a:avLst/>
            </a:prstGeom>
          </p:spPr>
        </p:pic>
        <p:pic>
          <p:nvPicPr>
            <p:cNvPr id="7" name="Imagen 6" descr="Patrón de fondo&#10;&#10;Descripción generada automáticamente">
              <a:extLst>
                <a:ext uri="{FF2B5EF4-FFF2-40B4-BE49-F238E27FC236}">
                  <a16:creationId xmlns:a16="http://schemas.microsoft.com/office/drawing/2014/main" id="{C5659899-472B-4262-6685-F1F6B0FF41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500" b="22593" l="69531" r="97604">
                          <a14:foregroundMark x1="71302" y1="13704" x2="71302" y2="13704"/>
                          <a14:foregroundMark x1="71042" y1="14722" x2="71302" y2="12685"/>
                          <a14:foregroundMark x1="82760" y1="15278" x2="94740" y2="13981"/>
                          <a14:foregroundMark x1="94740" y1="13981" x2="96354" y2="13981"/>
                          <a14:foregroundMark x1="83438" y1="10648" x2="90938" y2="11111"/>
                          <a14:foregroundMark x1="90938" y1="11111" x2="96667" y2="10278"/>
                          <a14:foregroundMark x1="96667" y1="10278" x2="95052" y2="10463"/>
                          <a14:foregroundMark x1="86615" y1="18796" x2="92396" y2="19259"/>
                          <a14:foregroundMark x1="92396" y1="19259" x2="87188" y2="18333"/>
                          <a14:foregroundMark x1="81875" y1="12222" x2="86771" y2="16944"/>
                          <a14:foregroundMark x1="86771" y1="16944" x2="93021" y2="16574"/>
                          <a14:foregroundMark x1="93021" y1="16574" x2="88333" y2="10463"/>
                          <a14:foregroundMark x1="88333" y1="10463" x2="82708" y2="11019"/>
                          <a14:foregroundMark x1="82708" y1="11019" x2="82760" y2="11204"/>
                          <a14:foregroundMark x1="96042" y1="11667" x2="93177" y2="16296"/>
                          <a14:foregroundMark x1="97344" y1="17037" x2="93438" y2="8889"/>
                          <a14:foregroundMark x1="93438" y1="8889" x2="83177" y2="10463"/>
                          <a14:foregroundMark x1="75313" y1="5648" x2="75469" y2="4074"/>
                          <a14:foregroundMark x1="75156" y1="6667" x2="76458" y2="3611"/>
                          <a14:foregroundMark x1="74323" y1="6111" x2="69583" y2="12685"/>
                          <a14:foregroundMark x1="69583" y1="12685" x2="72448" y2="7130"/>
                          <a14:foregroundMark x1="82448" y1="16759" x2="88125" y2="17778"/>
                          <a14:foregroundMark x1="88125" y1="17778" x2="83438" y2="17315"/>
                          <a14:foregroundMark x1="90885" y1="18796" x2="96406" y2="17778"/>
                          <a14:foregroundMark x1="96406" y1="17778" x2="92656" y2="10463"/>
                          <a14:foregroundMark x1="92656" y1="10463" x2="79896" y2="11204"/>
                          <a14:foregroundMark x1="79896" y1="11204" x2="79740" y2="10926"/>
                          <a14:foregroundMark x1="92760" y1="9444" x2="97604" y2="14259"/>
                          <a14:foregroundMark x1="97604" y1="14259" x2="97604" y2="14722"/>
                          <a14:foregroundMark x1="97188" y1="12685" x2="97031" y2="1731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24" b="74763"/>
            <a:stretch/>
          </p:blipFill>
          <p:spPr>
            <a:xfrm>
              <a:off x="9541293" y="11553"/>
              <a:ext cx="2650705" cy="1226668"/>
            </a:xfrm>
            <a:prstGeom prst="rect">
              <a:avLst/>
            </a:prstGeom>
          </p:spPr>
        </p:pic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F4E3894-0B1D-24E4-51B3-62004797C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4983"/>
            <a:ext cx="12192000" cy="9515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DED975-AAA7-C430-7A86-62C7D2AF7F0E}"/>
              </a:ext>
            </a:extLst>
          </p:cNvPr>
          <p:cNvSpPr txBox="1"/>
          <p:nvPr/>
        </p:nvSpPr>
        <p:spPr>
          <a:xfrm>
            <a:off x="498133" y="97472"/>
            <a:ext cx="63518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>
                <a:solidFill>
                  <a:srgbClr val="00D2F0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Ciclo 1- </a:t>
            </a:r>
            <a:r>
              <a:rPr lang="es-ES_tradnl" sz="32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Sprint 2</a:t>
            </a:r>
            <a:endParaRPr lang="es-ES_tradnl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  <a:p>
            <a:r>
              <a:rPr lang="es-ES_tradnl" sz="3000" b="1" dirty="0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Data </a:t>
            </a:r>
            <a:r>
              <a:rPr lang="es-ES_tradnl" sz="3000" b="1" dirty="0" err="1">
                <a:solidFill>
                  <a:schemeClr val="bg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Understanding</a:t>
            </a:r>
            <a:endParaRPr lang="es-ES_tradnl" sz="3000" b="1" dirty="0">
              <a:solidFill>
                <a:schemeClr val="bg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63251A-9045-1536-FAC2-27908AF5690E}"/>
              </a:ext>
            </a:extLst>
          </p:cNvPr>
          <p:cNvSpPr txBox="1"/>
          <p:nvPr/>
        </p:nvSpPr>
        <p:spPr>
          <a:xfrm>
            <a:off x="3318829" y="1323932"/>
            <a:ext cx="53019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b="1" kern="1200" dirty="0">
                <a:solidFill>
                  <a:srgbClr val="00D2F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Mapa de </a:t>
            </a:r>
            <a:r>
              <a:rPr lang="es-CO" sz="2400" b="1" dirty="0">
                <a:solidFill>
                  <a:srgbClr val="00D2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afinidad</a:t>
            </a:r>
            <a:endParaRPr lang="es-CO" sz="2400" b="1" kern="1200" dirty="0">
              <a:solidFill>
                <a:srgbClr val="00D2F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E552260-9B68-72AD-C499-A797831E1467}"/>
              </a:ext>
            </a:extLst>
          </p:cNvPr>
          <p:cNvSpPr txBox="1"/>
          <p:nvPr/>
        </p:nvSpPr>
        <p:spPr>
          <a:xfrm>
            <a:off x="350359" y="1934683"/>
            <a:ext cx="1120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1" dirty="0">
                <a:solidFill>
                  <a:srgbClr val="089EC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Validen la </a:t>
            </a:r>
            <a:r>
              <a:rPr lang="es-CO" altLang="es-CO" sz="1600" b="1" dirty="0">
                <a:solidFill>
                  <a:srgbClr val="089EC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coherencia</a:t>
            </a:r>
            <a:r>
              <a:rPr lang="es-CO" altLang="es-CO" b="1" dirty="0">
                <a:solidFill>
                  <a:srgbClr val="089EC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los datos con las necesidades el negocio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DDFD0F4-EDCE-32EA-C401-60FD11B7383E}"/>
              </a:ext>
            </a:extLst>
          </p:cNvPr>
          <p:cNvSpPr txBox="1"/>
          <p:nvPr/>
        </p:nvSpPr>
        <p:spPr>
          <a:xfrm>
            <a:off x="379411" y="2286000"/>
            <a:ext cx="1146223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D2F0"/>
              </a:buClr>
              <a:buFont typeface="Arial" panose="020B0604020202020204" pitchFamily="34" charset="0"/>
              <a:buChar char="•"/>
            </a:pP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Copie los grupos de post-</a:t>
            </a:r>
            <a:r>
              <a:rPr lang="es-CO" sz="1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s-CO" sz="1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las necesidades</a:t>
            </a: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distribuyéndolos en el espacio disponible.</a:t>
            </a:r>
          </a:p>
          <a:p>
            <a:pPr marL="285750" indent="-285750">
              <a:buClr>
                <a:srgbClr val="00D2F0"/>
              </a:buClr>
              <a:buFont typeface="Arial" panose="020B0604020202020204" pitchFamily="34" charset="0"/>
              <a:buChar char="•"/>
            </a:pP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Luego, traiga cada uno de los post-</a:t>
            </a:r>
            <a:r>
              <a:rPr lang="es-CO" sz="1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relacionados </a:t>
            </a:r>
            <a:r>
              <a:rPr lang="es-CO" sz="1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 los datos </a:t>
            </a: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s-CO" sz="1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colóquelos junto </a:t>
            </a:r>
            <a:r>
              <a:rPr lang="es-CO" sz="1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las necesidades del negocio.</a:t>
            </a:r>
          </a:p>
          <a:p>
            <a:pPr marL="285750" indent="-285750" algn="just">
              <a:buClr>
                <a:srgbClr val="00D2F0"/>
              </a:buClr>
              <a:buFont typeface="Arial" panose="020B0604020202020204" pitchFamily="34" charset="0"/>
              <a:buChar char="•"/>
            </a:pPr>
            <a:r>
              <a:rPr lang="es-CO" sz="1000" dirty="0">
                <a:latin typeface="Calibri" panose="020F0502020204030204" pitchFamily="34" charset="0"/>
                <a:cs typeface="Calibri" panose="020F0502020204030204" pitchFamily="34" charset="0"/>
              </a:rPr>
              <a:t>Verifique que los datos asociados a cada necesidad </a:t>
            </a:r>
            <a:r>
              <a:rPr lang="es-CO" sz="1000" b="1" dirty="0">
                <a:latin typeface="Calibri" panose="020F0502020204030204" pitchFamily="34" charset="0"/>
                <a:cs typeface="Calibri" panose="020F0502020204030204" pitchFamily="34" charset="0"/>
              </a:rPr>
              <a:t>son completos y coherentes; </a:t>
            </a:r>
            <a:r>
              <a:rPr lang="es-CO" sz="1000" dirty="0">
                <a:latin typeface="Calibri" panose="020F0502020204030204" pitchFamily="34" charset="0"/>
                <a:cs typeface="Calibri" panose="020F0502020204030204" pitchFamily="34" charset="0"/>
              </a:rPr>
              <a:t>si hace falta algún dato, cree un nuevo post-</a:t>
            </a:r>
            <a:r>
              <a:rPr lang="es-CO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s-CO" sz="1000" dirty="0">
                <a:latin typeface="Calibri" panose="020F0502020204030204" pitchFamily="34" charset="0"/>
                <a:cs typeface="Calibri" panose="020F0502020204030204" pitchFamily="34" charset="0"/>
              </a:rPr>
              <a:t> y ubíquelo al lado de la    necesidad.</a:t>
            </a:r>
            <a:endParaRPr lang="es-ES_tradnl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850" y="2876550"/>
            <a:ext cx="1905000" cy="1714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000">
                <a:solidFill>
                  <a:srgbClr val="1F3A5F"/>
                </a:solidFill>
              </a:rPr>
              <a:t>Necesidad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1250" y="2876550"/>
            <a:ext cx="2857500" cy="1714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000">
                <a:solidFill>
                  <a:srgbClr val="1F3A5F"/>
                </a:solidFill>
              </a:rPr>
              <a:t>Datos disponibles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8150" y="2876550"/>
            <a:ext cx="2857500" cy="1714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r>
              <a:rPr b="1" sz="1000">
                <a:solidFill>
                  <a:srgbClr val="A32A1E"/>
                </a:solidFill>
              </a:rPr>
              <a:t>Datos que faltan o alertas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850" y="3086100"/>
            <a:ext cx="1943100" cy="66675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A. Entender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1250" y="3086100"/>
            <a:ext cx="1809750" cy="666750"/>
          </a:xfrm>
          <a:prstGeom prst="rect">
            <a:avLst/>
          </a:prstGeom>
          <a:solidFill>
            <a:srgbClr val="FFF2A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5. Usuarios: 20 respuestas del testeo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8150" y="3086100"/>
            <a:ext cx="1809750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6. Material educativo SFC y AMV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8150" y="30861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descargar el material educativo y armar el glosario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850" y="3810000"/>
            <a:ext cx="1943100" cy="666750"/>
          </a:xfrm>
          <a:prstGeom prst="rect">
            <a:avLst/>
          </a:prstGeom>
          <a:solidFill>
            <a:srgbClr val="FFC2C7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B. Dimensionar el riesgo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81250" y="3810000"/>
            <a:ext cx="1809750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2. Mercado: ICOLCAP y SPY diarios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8150" y="3810000"/>
            <a:ext cx="1809750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3. Macro: TRM, TES, IBR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5050" y="3810000"/>
            <a:ext cx="1809750" cy="666750"/>
          </a:xfrm>
          <a:prstGeom prst="rect">
            <a:avLst/>
          </a:prstGeom>
          <a:solidFill>
            <a:srgbClr val="F9C6E8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4. Riesgo global: VIX, estrés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8150" y="38100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COLCAP diario desde 2008; ICOLCAP empieza en 2013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9350" y="38100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decisiones de usuarios en el simulador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850" y="4533900"/>
            <a:ext cx="1943100" cy="666750"/>
          </a:xfrm>
          <a:prstGeom prst="rect">
            <a:avLst/>
          </a:prstGeom>
          <a:solidFill>
            <a:srgbClr val="BDE0FE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C. Perfil y portafolio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1250" y="4533900"/>
            <a:ext cx="1809750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1. IEFIC: 110.185 personas, 46.175 hogares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150" y="4533900"/>
            <a:ext cx="1809750" cy="666750"/>
          </a:xfrm>
          <a:prstGeom prst="rect">
            <a:avLst/>
          </a:prstGeom>
          <a:solidFill>
            <a:srgbClr val="AFF3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2 y 3. Mercado y macro para el portafolio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58150" y="45339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pregunta de tolerancia al riesgo declarada; la IEFIC no la tiene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9350" y="45339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ALERTA: solo 1,56 % tiene activos de riesgo (1.698 personas)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850" y="5257800"/>
            <a:ext cx="1943100" cy="666750"/>
          </a:xfrm>
          <a:prstGeom prst="rect">
            <a:avLst/>
          </a:prstGeom>
          <a:solidFill>
            <a:srgbClr val="CDEAC0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D. Confianza y regulación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1250" y="5257800"/>
            <a:ext cx="1809750" cy="666750"/>
          </a:xfrm>
          <a:prstGeom prst="rect">
            <a:avLst/>
          </a:prstGeom>
          <a:solidFill>
            <a:srgbClr val="DDDDDD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6. Normas identificadas, aún sin descargar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8150" y="5257800"/>
            <a:ext cx="1809750" cy="666750"/>
          </a:xfrm>
          <a:prstGeom prst="rect">
            <a:avLst/>
          </a:prstGeom>
          <a:solidFill>
            <a:srgbClr val="D9F2B4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Registro de origen de cada archivo descargado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8150" y="52578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descargar las normas y la lista de vigiladas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850" y="5981700"/>
            <a:ext cx="1943100" cy="666750"/>
          </a:xfrm>
          <a:prstGeom prst="rect">
            <a:avLst/>
          </a:prstGeom>
          <a:solidFill>
            <a:srgbClr val="E2CFFF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1100">
                <a:solidFill>
                  <a:srgbClr val="202020"/>
                </a:solidFill>
              </a:rPr>
              <a:t>E. Modelo de 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81250" y="5981700"/>
            <a:ext cx="1809750" cy="666750"/>
          </a:xfrm>
          <a:prstGeom prst="rect">
            <a:avLst/>
          </a:prstGeom>
          <a:solidFill>
            <a:srgbClr val="FFD6A5"/>
          </a:solidFill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1. IEFIC con identificador de hogar y pesos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8150" y="59817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ALERTA: 43 % de quienes tienen acciones no reporta el monto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9350" y="5981700"/>
            <a:ext cx="19240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wrap="square" anchor="ctr" lIns="38100" rIns="38100" tIns="19050" bIns="19050">
            <a:spAutoFit/>
          </a:bodyPr>
          <a:lstStyle/>
          <a:p>
            <a:r>
              <a:rPr sz="950">
                <a:solidFill>
                  <a:srgbClr val="202020"/>
                </a:solidFill>
              </a:rPr>
              <a:t>FALTA: significado oficial de los códigos de educación y conocimiento</a:t>
            </a:r>
          </a:p>
        </p:txBody>
      </p:sp>
    </p:spTree>
    <p:extLst>
      <p:ext uri="{BB962C8B-B14F-4D97-AF65-F5344CB8AC3E}">
        <p14:creationId xmlns:p14="http://schemas.microsoft.com/office/powerpoint/2010/main" val="2263422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70ee91-80ef-4827-81bd-aa91d85408f7">
      <Terms xmlns="http://schemas.microsoft.com/office/infopath/2007/PartnerControls"/>
    </lcf76f155ced4ddcb4097134ff3c332f>
    <TaxCatchAll xmlns="47370fe3-64e5-4256-86b7-a26e17a2c88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BC61FAB0642FE408167ABE9ACA42F1D" ma:contentTypeVersion="15" ma:contentTypeDescription="Crear nuevo documento." ma:contentTypeScope="" ma:versionID="28e212e2d0114e1a7bd286baa54d49e1">
  <xsd:schema xmlns:xsd="http://www.w3.org/2001/XMLSchema" xmlns:xs="http://www.w3.org/2001/XMLSchema" xmlns:p="http://schemas.microsoft.com/office/2006/metadata/properties" xmlns:ns2="7d70ee91-80ef-4827-81bd-aa91d85408f7" xmlns:ns3="47370fe3-64e5-4256-86b7-a26e17a2c88b" targetNamespace="http://schemas.microsoft.com/office/2006/metadata/properties" ma:root="true" ma:fieldsID="0a126cb5ec7e7f00f442ef1bd1b029e4" ns2:_="" ns3:_="">
    <xsd:import namespace="7d70ee91-80ef-4827-81bd-aa91d85408f7"/>
    <xsd:import namespace="47370fe3-64e5-4256-86b7-a26e17a2c8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70ee91-80ef-4827-81bd-aa91d85408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d068974-5b92-4f84-9f7a-5b28e50c74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70fe3-64e5-4256-86b7-a26e17a2c88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b08cc4e-72a1-435f-b688-81f9a4f9e5eb}" ma:internalName="TaxCatchAll" ma:showField="CatchAllData" ma:web="47370fe3-64e5-4256-86b7-a26e17a2c8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07897B-55CB-4800-898E-8B5277602CC4}">
  <ds:schemaRefs>
    <ds:schemaRef ds:uri="http://purl.org/dc/terms/"/>
    <ds:schemaRef ds:uri="9bb03d0e-9ccb-4fee-a4be-a6f942593624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719338-a2b9-405b-a2f7-30071f0abcc4"/>
    <ds:schemaRef ds:uri="http://schemas.microsoft.com/office/2006/metadata/properties"/>
    <ds:schemaRef ds:uri="7d70ee91-80ef-4827-81bd-aa91d85408f7"/>
    <ds:schemaRef ds:uri="47370fe3-64e5-4256-86b7-a26e17a2c88b"/>
  </ds:schemaRefs>
</ds:datastoreItem>
</file>

<file path=customXml/itemProps2.xml><?xml version="1.0" encoding="utf-8"?>
<ds:datastoreItem xmlns:ds="http://schemas.openxmlformats.org/officeDocument/2006/customXml" ds:itemID="{D2856D93-BF20-4F4B-A066-7C6C5D6FD7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23F97-42DB-422D-BB02-A60EDD1B1C6F}"/>
</file>

<file path=docProps/app.xml><?xml version="1.0" encoding="utf-8"?>
<Properties xmlns="http://schemas.openxmlformats.org/officeDocument/2006/extended-properties" xmlns:vt="http://schemas.openxmlformats.org/officeDocument/2006/docPropsVTypes">
  <TotalTime>9914</TotalTime>
  <Words>345</Words>
  <Application>Microsoft Macintosh PowerPoint</Application>
  <PresentationFormat>Panorámica</PresentationFormat>
  <Paragraphs>84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Lina Patricia Bedoya Cañon</cp:lastModifiedBy>
  <cp:revision>388</cp:revision>
  <dcterms:created xsi:type="dcterms:W3CDTF">2017-03-01T15:55:36Z</dcterms:created>
  <dcterms:modified xsi:type="dcterms:W3CDTF">2024-11-08T00:51:36Z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0x010100EBC61FAB0642FE408167ABE9ACA42F1D</vt:lpwstr>
  </property>
  <property fmtid="{D5CDD505-2E9C-101B-9397-08002B2CF9AE}" pid="3" name="MediaServiceImageTags">
    <vt:lpwstr/>
  </property>
</Properties>
</file>