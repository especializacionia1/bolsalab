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403" r:id="rId5"/>
    <p:sldId id="424" r:id="rId6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riana Di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9ECE"/>
    <a:srgbClr val="00D2F0"/>
    <a:srgbClr val="AFF3FF"/>
    <a:srgbClr val="00FFFF"/>
    <a:srgbClr val="CC99FF"/>
    <a:srgbClr val="FFE2FE"/>
    <a:srgbClr val="FFCCFF"/>
    <a:srgbClr val="FFFF99"/>
    <a:srgbClr val="FF99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2"/>
    <p:restoredTop sz="83688" autoAdjust="0"/>
  </p:normalViewPr>
  <p:slideViewPr>
    <p:cSldViewPr snapToGrid="0" snapToObjects="1">
      <p:cViewPr varScale="1">
        <p:scale>
          <a:sx n="108" d="100"/>
          <a:sy n="108" d="100"/>
        </p:scale>
        <p:origin x="76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E539C-DDF3-AC46-8B9D-2E762AE448C0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C0A5-FBF0-BA4F-A7ED-D301001CE6F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954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800" kern="0" dirty="0">
                <a:solidFill>
                  <a:srgbClr val="215F9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Instrucciones: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800" kern="0" dirty="0">
              <a:solidFill>
                <a:srgbClr val="215F9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800" kern="0" dirty="0">
                <a:solidFill>
                  <a:srgbClr val="215F9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Rellenar los espacios con los datos correspondientes al grupo e integrantes.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CO" sz="1800" kern="0" dirty="0">
              <a:solidFill>
                <a:srgbClr val="215F9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800" kern="0" dirty="0">
                <a:solidFill>
                  <a:srgbClr val="215F9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 algún miembro del grupo no generó aportes significativos, no debería ser incluido en la lista de integrantes.</a:t>
            </a:r>
            <a:endParaRPr lang="es-CO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26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Instrucciones:</a:t>
            </a:r>
          </a:p>
          <a:p>
            <a:endParaRPr lang="es-MX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Utilice un color de post-</a:t>
            </a:r>
            <a:r>
              <a:rPr lang="es-CO" dirty="0" err="1"/>
              <a:t>its</a:t>
            </a:r>
            <a:r>
              <a:rPr lang="es-CO" dirty="0"/>
              <a:t> para responder a cada uno de los cuadrantes del mapa que le ayudarán a definir el perfil de usuario o cliente del producto en  IA.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293248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70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397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26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44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766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10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06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7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9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26403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56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0F619976-CDD8-C75D-D1CF-2148DBF59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ubtítulo 2"/>
          <p:cNvSpPr>
            <a:spLocks noGrp="1"/>
          </p:cNvSpPr>
          <p:nvPr>
            <p:ph type="subTitle" idx="1"/>
          </p:nvPr>
        </p:nvSpPr>
        <p:spPr>
          <a:xfrm>
            <a:off x="1867917" y="1433005"/>
            <a:ext cx="8456166" cy="260589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5400" b="1" dirty="0">
                <a:solidFill>
                  <a:srgbClr val="00D2F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Ciclo 1- </a:t>
            </a:r>
            <a:r>
              <a:rPr lang="es-ES" sz="5400" b="1" dirty="0">
                <a:solidFill>
                  <a:schemeClr val="bg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Sprint 1</a:t>
            </a:r>
            <a:endParaRPr lang="es-ES" sz="5400" dirty="0">
              <a:solidFill>
                <a:srgbClr val="000000"/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5400" b="1" dirty="0">
                <a:solidFill>
                  <a:schemeClr val="bg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Business </a:t>
            </a:r>
            <a:r>
              <a:rPr lang="es-ES" sz="5400" b="1" dirty="0" err="1">
                <a:solidFill>
                  <a:schemeClr val="bg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Understanding</a:t>
            </a:r>
            <a:endParaRPr lang="es-ES" sz="5400" dirty="0">
              <a:solidFill>
                <a:schemeClr val="bg1"/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r>
              <a:rPr lang="es-ES_tradnl" sz="36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Mapa de Empatía</a:t>
            </a:r>
          </a:p>
          <a:p>
            <a:r>
              <a:rPr lang="es-ES_tradnl" sz="28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Grupo 10</a:t>
            </a: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>
            <a:off x="1867917" y="4837441"/>
            <a:ext cx="8456166" cy="15633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b="1" dirty="0">
                <a:solidFill>
                  <a:srgbClr val="AFF3FF"/>
                </a:solidFill>
                <a:latin typeface="Arial" charset="0"/>
                <a:ea typeface="Arial" charset="0"/>
                <a:cs typeface="Arial" charset="0"/>
              </a:rPr>
              <a:t>Integrantes:</a:t>
            </a:r>
          </a:p>
          <a:p>
            <a:r>
              <a:rPr lang="es-ES_tradnl" sz="1500" dirty="0">
                <a:solidFill>
                  <a:srgbClr val="AFF3FF"/>
                </a:solidFill>
                <a:latin typeface="Arial" charset="0"/>
                <a:ea typeface="Arial" charset="0"/>
                <a:cs typeface="Arial" charset="0"/>
              </a:rPr>
              <a:t>Jenny Paola Castellanos</a:t>
            </a:r>
          </a:p>
          <a:p>
            <a:r>
              <a:rPr lang="es-ES_tradnl" sz="1500" dirty="0">
                <a:solidFill>
                  <a:srgbClr val="AFF3FF"/>
                </a:solidFill>
                <a:latin typeface="Arial" charset="0"/>
                <a:ea typeface="Arial" charset="0"/>
                <a:cs typeface="Arial" charset="0"/>
              </a:rPr>
              <a:t>Luis Guillermo Yépez</a:t>
            </a:r>
          </a:p>
          <a:p>
            <a:r>
              <a:rPr lang="es-ES_tradnl" sz="1500" dirty="0">
                <a:solidFill>
                  <a:srgbClr val="AFF3FF"/>
                </a:solidFill>
                <a:latin typeface="Arial" charset="0"/>
                <a:ea typeface="Arial" charset="0"/>
                <a:cs typeface="Arial" charset="0"/>
              </a:rPr>
              <a:t>Dilan Vega</a:t>
            </a:r>
          </a:p>
          <a:p>
            <a:r>
              <a:rPr lang="es-ES_tradnl" sz="1500" dirty="0">
                <a:solidFill>
                  <a:srgbClr val="AFF3FF"/>
                </a:solidFill>
                <a:latin typeface="Arial" charset="0"/>
                <a:ea typeface="Arial" charset="0"/>
                <a:cs typeface="Arial" charset="0"/>
              </a:rPr>
              <a:t>Juan Gilberto Ayala</a:t>
            </a:r>
          </a:p>
        </p:txBody>
      </p:sp>
    </p:spTree>
    <p:extLst>
      <p:ext uri="{BB962C8B-B14F-4D97-AF65-F5344CB8AC3E}">
        <p14:creationId xmlns:p14="http://schemas.microsoft.com/office/powerpoint/2010/main" val="122382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4E6912D3-E0A2-BD21-8F26-BB87FDB7BDA2}"/>
              </a:ext>
            </a:extLst>
          </p:cNvPr>
          <p:cNvGrpSpPr/>
          <p:nvPr/>
        </p:nvGrpSpPr>
        <p:grpSpPr>
          <a:xfrm>
            <a:off x="0" y="0"/>
            <a:ext cx="12192000" cy="1238221"/>
            <a:chOff x="0" y="0"/>
            <a:chExt cx="12192000" cy="1238221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AA78EB6-6782-4F68-F86F-07501E21B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237605"/>
            </a:xfrm>
            <a:prstGeom prst="rect">
              <a:avLst/>
            </a:prstGeom>
          </p:spPr>
        </p:pic>
        <p:pic>
          <p:nvPicPr>
            <p:cNvPr id="32" name="Imagen 31" descr="Patrón de fondo&#10;&#10;Descripción generada automáticamente">
              <a:extLst>
                <a:ext uri="{FF2B5EF4-FFF2-40B4-BE49-F238E27FC236}">
                  <a16:creationId xmlns:a16="http://schemas.microsoft.com/office/drawing/2014/main" id="{CDB4BB08-C243-A17A-FDE3-52AF51D6D2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500" b="22593" l="69531" r="97604">
                          <a14:foregroundMark x1="71302" y1="13704" x2="71302" y2="13704"/>
                          <a14:foregroundMark x1="71042" y1="14722" x2="71302" y2="12685"/>
                          <a14:foregroundMark x1="82760" y1="15278" x2="94740" y2="13981"/>
                          <a14:foregroundMark x1="94740" y1="13981" x2="96354" y2="13981"/>
                          <a14:foregroundMark x1="83438" y1="10648" x2="90938" y2="11111"/>
                          <a14:foregroundMark x1="90938" y1="11111" x2="96667" y2="10278"/>
                          <a14:foregroundMark x1="96667" y1="10278" x2="95052" y2="10463"/>
                          <a14:foregroundMark x1="86615" y1="18796" x2="92396" y2="19259"/>
                          <a14:foregroundMark x1="92396" y1="19259" x2="87188" y2="18333"/>
                          <a14:foregroundMark x1="81875" y1="12222" x2="86771" y2="16944"/>
                          <a14:foregroundMark x1="86771" y1="16944" x2="93021" y2="16574"/>
                          <a14:foregroundMark x1="93021" y1="16574" x2="88333" y2="10463"/>
                          <a14:foregroundMark x1="88333" y1="10463" x2="82708" y2="11019"/>
                          <a14:foregroundMark x1="82708" y1="11019" x2="82760" y2="11204"/>
                          <a14:foregroundMark x1="96042" y1="11667" x2="93177" y2="16296"/>
                          <a14:foregroundMark x1="97344" y1="17037" x2="93438" y2="8889"/>
                          <a14:foregroundMark x1="93438" y1="8889" x2="83177" y2="10463"/>
                          <a14:foregroundMark x1="75313" y1="5648" x2="75469" y2="4074"/>
                          <a14:foregroundMark x1="75156" y1="6667" x2="76458" y2="3611"/>
                          <a14:foregroundMark x1="74323" y1="6111" x2="69583" y2="12685"/>
                          <a14:foregroundMark x1="69583" y1="12685" x2="72448" y2="7130"/>
                          <a14:foregroundMark x1="82448" y1="16759" x2="88125" y2="17778"/>
                          <a14:foregroundMark x1="88125" y1="17778" x2="83438" y2="17315"/>
                          <a14:foregroundMark x1="90885" y1="18796" x2="96406" y2="17778"/>
                          <a14:foregroundMark x1="96406" y1="17778" x2="92656" y2="10463"/>
                          <a14:foregroundMark x1="92656" y1="10463" x2="79896" y2="11204"/>
                          <a14:foregroundMark x1="79896" y1="11204" x2="79740" y2="10926"/>
                          <a14:foregroundMark x1="92760" y1="9444" x2="97604" y2="14259"/>
                          <a14:foregroundMark x1="97604" y1="14259" x2="97604" y2="14722"/>
                          <a14:foregroundMark x1="97188" y1="12685" x2="97031" y2="1731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24" b="74763"/>
            <a:stretch/>
          </p:blipFill>
          <p:spPr>
            <a:xfrm>
              <a:off x="9541293" y="11553"/>
              <a:ext cx="2650705" cy="1226668"/>
            </a:xfrm>
            <a:prstGeom prst="rect">
              <a:avLst/>
            </a:prstGeom>
          </p:spPr>
        </p:pic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BD401AC9-0358-5606-C3CB-8C6CF7E6E3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4983"/>
            <a:ext cx="12192000" cy="9515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DED975-AAA7-C430-7A86-62C7D2AF7F0E}"/>
              </a:ext>
            </a:extLst>
          </p:cNvPr>
          <p:cNvSpPr txBox="1"/>
          <p:nvPr/>
        </p:nvSpPr>
        <p:spPr>
          <a:xfrm>
            <a:off x="711888" y="99381"/>
            <a:ext cx="63518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Ciclo 1- </a:t>
            </a:r>
            <a:r>
              <a:rPr lang="es-ES_tradnl" sz="32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Sprint 1</a:t>
            </a:r>
            <a:endParaRPr lang="es-ES_tradnl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r>
              <a:rPr lang="es-ES_tradnl" sz="30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Business </a:t>
            </a:r>
            <a:r>
              <a:rPr lang="es-ES_tradnl" sz="3000" b="1" dirty="0" err="1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Understanding</a:t>
            </a:r>
            <a:endParaRPr lang="es-ES_tradnl" sz="3000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C6FA9C3-2E53-4E4B-BEA9-2CD8EF0AB4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440951" y="2246253"/>
            <a:ext cx="7045160" cy="434569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1B2F252-C1AD-483E-756E-407D6AB2117C}"/>
              </a:ext>
            </a:extLst>
          </p:cNvPr>
          <p:cNvSpPr txBox="1"/>
          <p:nvPr/>
        </p:nvSpPr>
        <p:spPr>
          <a:xfrm>
            <a:off x="1006936" y="1662094"/>
            <a:ext cx="10565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es-CO" sz="1600" kern="1200" dirty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Elija un perfil de usuario del MPV en IA y responda </a:t>
            </a:r>
            <a:r>
              <a:rPr lang="es-CO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las </a:t>
            </a:r>
            <a:r>
              <a:rPr lang="es-CO" sz="1600" kern="1200" dirty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preguntas agrupadas en los cuadrantes que indican el orden por el cual van a indagar por las expectativas y experiencias de cada una de estas personas.</a:t>
            </a:r>
            <a:r>
              <a:rPr lang="es-CO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MX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63251A-9045-1536-FAC2-27908AF5690E}"/>
              </a:ext>
            </a:extLst>
          </p:cNvPr>
          <p:cNvSpPr txBox="1"/>
          <p:nvPr/>
        </p:nvSpPr>
        <p:spPr>
          <a:xfrm>
            <a:off x="3046971" y="1219017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b="1" kern="1200" dirty="0">
                <a:solidFill>
                  <a:srgbClr val="089EC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Mapa de empatía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C3B211A3-3A95-0768-17A9-94965E0E49CC}"/>
              </a:ext>
            </a:extLst>
          </p:cNvPr>
          <p:cNvSpPr/>
          <p:nvPr/>
        </p:nvSpPr>
        <p:spPr>
          <a:xfrm>
            <a:off x="9544050" y="2266950"/>
            <a:ext cx="2571750" cy="381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F3A5F"/>
                </a:solidFill>
              </a:rPr>
              <a:t>Perfil: inversionista principiante · Participante 18 (ronda 2)</a:t>
            </a:r>
            <a:endParaRPr lang="es-ES_tradnl"/>
          </a:p>
        </p:txBody>
      </p:sp>
      <p:sp>
        <p:nvSpPr>
          <p:cNvPr id="34" name="TextBox 33"/>
          <p:cNvSpPr txBox="1"/>
          <p:nvPr/>
        </p:nvSpPr>
        <p:spPr>
          <a:xfrm>
            <a:off x="47625" y="2286000"/>
            <a:ext cx="1143000" cy="523875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1 · QUIÉN </a:t>
            </a:r>
            <a:r>
              <a:rPr sz="700">
                <a:solidFill>
                  <a:srgbClr val="202020"/>
                </a:solidFill>
              </a:rPr>
              <a:t>Persona con un excedente que nunca ha invertido en bolsa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8725" y="2286000"/>
            <a:ext cx="1143000" cy="523875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1 · QUIÉN </a:t>
            </a:r>
            <a:r>
              <a:rPr sz="700">
                <a:solidFill>
                  <a:srgbClr val="202020"/>
                </a:solidFill>
              </a:rPr>
              <a:t>Teme perder lo acumulado y no entiende el vocabulario del mercado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" y="2838450"/>
            <a:ext cx="1143000" cy="523875"/>
          </a:xfrm>
          <a:prstGeom prst="rect">
            <a:avLst/>
          </a:prstGeom>
          <a:solidFill>
            <a:srgbClr val="CC99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6 · OYE </a:t>
            </a:r>
            <a:r>
              <a:rPr sz="700">
                <a:solidFill>
                  <a:srgbClr val="202020"/>
                </a:solidFill>
              </a:rPr>
              <a:t>"Son preguntas que generalmente se hacen antes de vender un producto de inversión"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8725" y="2838450"/>
            <a:ext cx="1143000" cy="523875"/>
          </a:xfrm>
          <a:prstGeom prst="rect">
            <a:avLst/>
          </a:prstGeom>
          <a:solidFill>
            <a:srgbClr val="CC99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6 · OYE </a:t>
            </a:r>
            <a:r>
              <a:rPr sz="700">
                <a:solidFill>
                  <a:srgbClr val="202020"/>
                </a:solidFill>
              </a:rPr>
              <a:t>Por indagar en la ronda 3: qué oye de amigos, familia y redes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" y="3390900"/>
            <a:ext cx="1143000" cy="523875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DOLOR </a:t>
            </a:r>
            <a:r>
              <a:rPr sz="700">
                <a:solidFill>
                  <a:srgbClr val="202020"/>
                </a:solidFill>
              </a:rPr>
              <a:t>Miedo a perder más dinero del que pensaba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8725" y="3390900"/>
            <a:ext cx="1143000" cy="523875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DOLOR </a:t>
            </a:r>
            <a:r>
              <a:rPr sz="700">
                <a:solidFill>
                  <a:srgbClr val="202020"/>
                </a:solidFill>
              </a:rPr>
              <a:t>Términos como COLCAP, renta fija y renta variable lo hacen sentir perdido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" y="3943350"/>
            <a:ext cx="1143000" cy="523875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DOLOR </a:t>
            </a:r>
            <a:r>
              <a:rPr sz="700">
                <a:solidFill>
                  <a:srgbClr val="202020"/>
                </a:solidFill>
              </a:rPr>
              <a:t>Siente que no tiene suficiente dinero o capital para empezar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8725" y="3943350"/>
            <a:ext cx="1143000" cy="523875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DOLOR </a:t>
            </a:r>
            <a:r>
              <a:rPr sz="700">
                <a:solidFill>
                  <a:srgbClr val="202020"/>
                </a:solidFill>
              </a:rPr>
              <a:t>Demasiadas cifras técnicas en la misma pantalla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" y="4495800"/>
            <a:ext cx="1143000" cy="523875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5 · HACE </a:t>
            </a:r>
            <a:r>
              <a:rPr sz="700">
                <a:solidFill>
                  <a:srgbClr val="202020"/>
                </a:solidFill>
              </a:rPr>
              <a:t>Recorre la herramienta solo, sin que nadie le explique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8725" y="4495800"/>
            <a:ext cx="1143000" cy="523875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5 · HACE </a:t>
            </a:r>
            <a:r>
              <a:rPr sz="700">
                <a:solidFill>
                  <a:srgbClr val="202020"/>
                </a:solidFill>
              </a:rPr>
              <a:t>Duda sobre todo en el portafolio y en el simulador de caída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25" y="5048250"/>
            <a:ext cx="1143000" cy="523875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5 · HACE </a:t>
            </a:r>
            <a:r>
              <a:rPr sz="700">
                <a:solidFill>
                  <a:srgbClr val="202020"/>
                </a:solidFill>
              </a:rPr>
              <a:t>12 de 18 la usarían antes de invertir; ninguno dijo que 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8725" y="5048250"/>
            <a:ext cx="1143000" cy="523875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5 · HACE </a:t>
            </a:r>
            <a:r>
              <a:rPr sz="700">
                <a:solidFill>
                  <a:srgbClr val="202020"/>
                </a:solidFill>
              </a:rPr>
              <a:t>Todavía no invierte: lo frenan el dinero, el plazo y el miedo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4050" y="2705100"/>
            <a:ext cx="1276350" cy="523875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2 · NECESITA </a:t>
            </a:r>
            <a:r>
              <a:rPr sz="700">
                <a:solidFill>
                  <a:srgbClr val="202020"/>
                </a:solidFill>
              </a:rPr>
              <a:t>Entender cuánto puede perder antes de poner su dinero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58500" y="2705100"/>
            <a:ext cx="1276350" cy="523875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2 · NECESITA </a:t>
            </a:r>
            <a:r>
              <a:rPr sz="700">
                <a:solidFill>
                  <a:srgbClr val="202020"/>
                </a:solidFill>
              </a:rPr>
              <a:t>Decidir si invierte y con qué mezcla de activos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4050" y="3257550"/>
            <a:ext cx="1276350" cy="523875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2 · NECESITA </a:t>
            </a:r>
            <a:r>
              <a:rPr sz="700">
                <a:solidFill>
                  <a:srgbClr val="202020"/>
                </a:solidFill>
              </a:rPr>
              <a:t>Entender los términos sin tener que buscarlos aparte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58500" y="3257550"/>
            <a:ext cx="1276350" cy="523875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3 · VE </a:t>
            </a:r>
            <a:r>
              <a:rPr sz="700">
                <a:solidFill>
                  <a:srgbClr val="202020"/>
                </a:solidFill>
              </a:rPr>
              <a:t>Siglas y términos del mercado que no conoce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44050" y="3810000"/>
            <a:ext cx="1276350" cy="523875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3 · VE </a:t>
            </a:r>
            <a:r>
              <a:rPr sz="700">
                <a:solidFill>
                  <a:srgbClr val="202020"/>
                </a:solidFill>
              </a:rPr>
              <a:t>La cifra de pérdida compitiendo con otras tres métricas (ronda 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58500" y="3810000"/>
            <a:ext cx="1276350" cy="523875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3 · VE </a:t>
            </a:r>
            <a:r>
              <a:rPr sz="700">
                <a:solidFill>
                  <a:srgbClr val="202020"/>
                </a:solidFill>
              </a:rPr>
              <a:t>Un asistente que se niega a decirle qué comprar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44050" y="4362450"/>
            <a:ext cx="1276350" cy="523875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4 · DICE </a:t>
            </a:r>
            <a:r>
              <a:rPr sz="700">
                <a:solidFill>
                  <a:srgbClr val="202020"/>
                </a:solidFill>
              </a:rPr>
              <a:t>"Me parece confiable porque trata de explicarme cosas que no entiendo"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4362450"/>
            <a:ext cx="1276350" cy="523875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4 · DICE </a:t>
            </a:r>
            <a:r>
              <a:rPr sz="700">
                <a:solidFill>
                  <a:srgbClr val="202020"/>
                </a:solidFill>
              </a:rPr>
              <a:t>"Ser un poco menos técnico con las cifras"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4050" y="4914900"/>
            <a:ext cx="1276350" cy="523875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4 · DICE </a:t>
            </a:r>
            <a:r>
              <a:rPr sz="700">
                <a:solidFill>
                  <a:srgbClr val="202020"/>
                </a:solidFill>
              </a:rPr>
              <a:t>"Te brinda una percepción de los posibles escenarios al invertir"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58500" y="4914900"/>
            <a:ext cx="1276350" cy="523875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4 · DICE </a:t>
            </a:r>
            <a:r>
              <a:rPr sz="700">
                <a:solidFill>
                  <a:srgbClr val="202020"/>
                </a:solidFill>
              </a:rPr>
              <a:t>13 de 18 vieron la negativa a recomendar como razonable o protectora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44050" y="5467350"/>
            <a:ext cx="1276350" cy="523875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QUIERE </a:t>
            </a:r>
            <a:r>
              <a:rPr sz="700">
                <a:solidFill>
                  <a:srgbClr val="202020"/>
                </a:solidFill>
              </a:rPr>
              <a:t>Que le expliquen lo que está arriesgando, no promesas de ganancia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8500" y="5467350"/>
            <a:ext cx="1276350" cy="523875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QUIERE </a:t>
            </a:r>
            <a:r>
              <a:rPr sz="700">
                <a:solidFill>
                  <a:srgbClr val="202020"/>
                </a:solidFill>
              </a:rPr>
              <a:t>Ver primero la peor pérdida posible, en pesos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44050" y="6019800"/>
            <a:ext cx="1276350" cy="523875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QUIERE </a:t>
            </a:r>
            <a:r>
              <a:rPr sz="700">
                <a:solidFill>
                  <a:srgbClr val="202020"/>
                </a:solidFill>
              </a:rPr>
              <a:t>Sentir que nadie le está vendiendo nada (15 de 18)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58500" y="6019800"/>
            <a:ext cx="1276350" cy="523875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b="1" sz="700">
                <a:solidFill>
                  <a:srgbClr val="202020"/>
                </a:solidFill>
              </a:rPr>
              <a:t>7 · QUIERE </a:t>
            </a:r>
            <a:r>
              <a:rPr sz="700">
                <a:solidFill>
                  <a:srgbClr val="202020"/>
                </a:solidFill>
              </a:rPr>
              <a:t>Probar una caída sin arriesgar dinero real</a:t>
            </a:r>
          </a:p>
        </p:txBody>
      </p:sp>
    </p:spTree>
    <p:extLst>
      <p:ext uri="{BB962C8B-B14F-4D97-AF65-F5344CB8AC3E}">
        <p14:creationId xmlns:p14="http://schemas.microsoft.com/office/powerpoint/2010/main" val="36516863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70ee91-80ef-4827-81bd-aa91d85408f7">
      <Terms xmlns="http://schemas.microsoft.com/office/infopath/2007/PartnerControls"/>
    </lcf76f155ced4ddcb4097134ff3c332f>
    <TaxCatchAll xmlns="47370fe3-64e5-4256-86b7-a26e17a2c8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BC61FAB0642FE408167ABE9ACA42F1D" ma:contentTypeVersion="15" ma:contentTypeDescription="Crear nuevo documento." ma:contentTypeScope="" ma:versionID="28e212e2d0114e1a7bd286baa54d49e1">
  <xsd:schema xmlns:xsd="http://www.w3.org/2001/XMLSchema" xmlns:xs="http://www.w3.org/2001/XMLSchema" xmlns:p="http://schemas.microsoft.com/office/2006/metadata/properties" xmlns:ns2="7d70ee91-80ef-4827-81bd-aa91d85408f7" xmlns:ns3="47370fe3-64e5-4256-86b7-a26e17a2c88b" targetNamespace="http://schemas.microsoft.com/office/2006/metadata/properties" ma:root="true" ma:fieldsID="0a126cb5ec7e7f00f442ef1bd1b029e4" ns2:_="" ns3:_="">
    <xsd:import namespace="7d70ee91-80ef-4827-81bd-aa91d85408f7"/>
    <xsd:import namespace="47370fe3-64e5-4256-86b7-a26e17a2c8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70ee91-80ef-4827-81bd-aa91d85408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d068974-5b92-4f84-9f7a-5b28e50c74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70fe3-64e5-4256-86b7-a26e17a2c88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b08cc4e-72a1-435f-b688-81f9a4f9e5eb}" ma:internalName="TaxCatchAll" ma:showField="CatchAllData" ma:web="47370fe3-64e5-4256-86b7-a26e17a2c8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07897B-55CB-4800-898E-8B5277602CC4}">
  <ds:schemaRefs>
    <ds:schemaRef ds:uri="9f719338-a2b9-405b-a2f7-30071f0abcc4"/>
    <ds:schemaRef ds:uri="http://purl.org/dc/dcmitype/"/>
    <ds:schemaRef ds:uri="9bb03d0e-9ccb-4fee-a4be-a6f942593624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7d70ee91-80ef-4827-81bd-aa91d85408f7"/>
    <ds:schemaRef ds:uri="47370fe3-64e5-4256-86b7-a26e17a2c88b"/>
  </ds:schemaRefs>
</ds:datastoreItem>
</file>

<file path=customXml/itemProps2.xml><?xml version="1.0" encoding="utf-8"?>
<ds:datastoreItem xmlns:ds="http://schemas.openxmlformats.org/officeDocument/2006/customXml" ds:itemID="{AF4678D9-2AE3-439F-8AC0-44C645BFB447}"/>
</file>

<file path=customXml/itemProps3.xml><?xml version="1.0" encoding="utf-8"?>
<ds:datastoreItem xmlns:ds="http://schemas.openxmlformats.org/officeDocument/2006/customXml" ds:itemID="{D2856D93-BF20-4F4B-A066-7C6C5D6FD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9772</TotalTime>
  <Words>141</Words>
  <Application>Microsoft Macintosh PowerPoint</Application>
  <PresentationFormat>Panorámica</PresentationFormat>
  <Paragraphs>32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wilperiodista86@gmail.com</dc:creator>
  <cp:lastModifiedBy>Lina Patricia Bedoya Cañon</cp:lastModifiedBy>
  <cp:revision>382</cp:revision>
  <dcterms:created xsi:type="dcterms:W3CDTF">2017-03-01T15:55:36Z</dcterms:created>
  <dcterms:modified xsi:type="dcterms:W3CDTF">2024-11-08T00:19:08Z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0x010100EBC61FAB0642FE408167ABE9ACA42F1D</vt:lpwstr>
  </property>
  <property fmtid="{D5CDD505-2E9C-101B-9397-08002B2CF9AE}" pid="3" name="MediaServiceImageTags">
    <vt:lpwstr/>
  </property>
</Properties>
</file>